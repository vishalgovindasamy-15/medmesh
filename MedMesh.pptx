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22.png" ContentType="image/png"/>
  <Override PartName="/ppt/media/image1.jpeg" ContentType="image/jpeg"/>
  <Override PartName="/ppt/media/image10.png" ContentType="image/png"/>
  <Override PartName="/ppt/media/image21.png" ContentType="image/png"/>
  <Override PartName="/ppt/media/image19.png" ContentType="image/png"/>
  <Override PartName="/ppt/media/image6.png" ContentType="image/png"/>
  <Override PartName="/ppt/media/image15.png" ContentType="image/png"/>
  <Override PartName="/ppt/media/image2.jpeg" ContentType="image/jpeg"/>
  <Override PartName="/ppt/media/image5.png" ContentType="image/png"/>
  <Override PartName="/ppt/media/image14.png" ContentType="image/png"/>
  <Override PartName="/ppt/media/image16.png" ContentType="image/png"/>
  <Override PartName="/ppt/media/image7.png" ContentType="image/png"/>
  <Override PartName="/ppt/media/image11.png" ContentType="image/pn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19600" y="126000"/>
            <a:ext cx="8704440" cy="5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A44C23-E846-493C-B910-B8AFF45792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19600" y="126000"/>
            <a:ext cx="8704440" cy="5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EAC530-B102-45CD-B182-03DD7000B9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19600" y="126000"/>
            <a:ext cx="8704440" cy="5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D9B4243-4CF4-45ED-BC16-DB12BE4794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19600" y="126000"/>
            <a:ext cx="8704440" cy="5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0531811-091F-45D5-BE10-1843B9D44D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219600" y="126000"/>
            <a:ext cx="8704440" cy="5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9DDCF04-1EF7-48AE-8D8F-2802701E04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bg object 16" descr=""/>
          <p:cNvPicPr/>
          <p:nvPr/>
        </p:nvPicPr>
        <p:blipFill>
          <a:blip r:embed="rId2"/>
          <a:stretch/>
        </p:blipFill>
        <p:spPr>
          <a:xfrm>
            <a:off x="2910240" y="6120720"/>
            <a:ext cx="3332520" cy="6386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85800" y="2126160"/>
            <a:ext cx="77720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2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7386120" y="6328440"/>
            <a:ext cx="755280" cy="29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>
              <a:lnSpc>
                <a:spcPts val="2064"/>
              </a:lnSpc>
              <a:buNone/>
              <a:defRPr b="0" lang="en-US" sz="1800" spc="-1" strike="noStrike">
                <a:solidFill>
                  <a:schemeClr val="lt1"/>
                </a:solidFill>
                <a:latin typeface="Times New Roman"/>
              </a:defRPr>
            </a:lvl1pPr>
          </a:lstStyle>
          <a:p>
            <a:pPr marL="12600" indent="0">
              <a:lnSpc>
                <a:spcPts val="2064"/>
              </a:lnSpc>
              <a:buNone/>
            </a:pPr>
            <a:r>
              <a:rPr b="0" lang="en-US" sz="1800" spc="-1" strike="noStrike">
                <a:solidFill>
                  <a:schemeClr val="lt1"/>
                </a:solidFill>
                <a:latin typeface="Times New Roman"/>
              </a:rPr>
              <a:t>Page</a:t>
            </a:r>
            <a:r>
              <a:rPr b="0" lang="en-US" sz="1800" spc="-35" strike="noStrike">
                <a:solidFill>
                  <a:schemeClr val="lt1"/>
                </a:solidFill>
                <a:latin typeface="Times New Roman"/>
              </a:rPr>
              <a:t> </a:t>
            </a:r>
            <a:fld id="{47A2BE31-0725-4BFD-94AC-B07543CB15D0}" type="slidenum">
              <a:rPr b="0" lang="en-US" sz="1800" spc="-52" strike="noStrike">
                <a:solidFill>
                  <a:schemeClr val="lt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g object 16" descr=""/>
          <p:cNvPicPr/>
          <p:nvPr/>
        </p:nvPicPr>
        <p:blipFill>
          <a:blip r:embed="rId2"/>
          <a:stretch/>
        </p:blipFill>
        <p:spPr>
          <a:xfrm>
            <a:off x="2910240" y="6120720"/>
            <a:ext cx="3332520" cy="63864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19600" y="126000"/>
            <a:ext cx="8704440" cy="5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33160" y="1731240"/>
            <a:ext cx="807768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4"/>
          </p:nvPr>
        </p:nvSpPr>
        <p:spPr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5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7386120" y="6328440"/>
            <a:ext cx="755280" cy="29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>
              <a:lnSpc>
                <a:spcPts val="2064"/>
              </a:lnSpc>
              <a:buNone/>
              <a:defRPr b="0" lang="en-US" sz="1800" spc="-1" strike="noStrike">
                <a:solidFill>
                  <a:schemeClr val="lt1"/>
                </a:solidFill>
                <a:latin typeface="Times New Roman"/>
              </a:defRPr>
            </a:lvl1pPr>
          </a:lstStyle>
          <a:p>
            <a:pPr marL="12600" indent="0">
              <a:lnSpc>
                <a:spcPts val="2064"/>
              </a:lnSpc>
              <a:buNone/>
            </a:pPr>
            <a:r>
              <a:rPr b="0" lang="en-US" sz="1800" spc="-1" strike="noStrike">
                <a:solidFill>
                  <a:schemeClr val="lt1"/>
                </a:solidFill>
                <a:latin typeface="Times New Roman"/>
              </a:rPr>
              <a:t>Page</a:t>
            </a:r>
            <a:r>
              <a:rPr b="0" lang="en-US" sz="1800" spc="-35" strike="noStrike">
                <a:solidFill>
                  <a:schemeClr val="lt1"/>
                </a:solidFill>
                <a:latin typeface="Times New Roman"/>
              </a:rPr>
              <a:t> </a:t>
            </a:r>
            <a:fld id="{FB4743E4-D326-41BE-9609-C74C0283648B}" type="slidenum">
              <a:rPr b="0" lang="en-US" sz="1800" spc="-52" strike="noStrike">
                <a:solidFill>
                  <a:schemeClr val="lt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g object 16" descr=""/>
          <p:cNvPicPr/>
          <p:nvPr/>
        </p:nvPicPr>
        <p:blipFill>
          <a:blip r:embed="rId2"/>
          <a:stretch/>
        </p:blipFill>
        <p:spPr>
          <a:xfrm>
            <a:off x="2910240" y="6120720"/>
            <a:ext cx="3332520" cy="638640"/>
          </a:xfrm>
          <a:prstGeom prst="rect">
            <a:avLst/>
          </a:prstGeom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19600" y="126000"/>
            <a:ext cx="8704440" cy="5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206640" y="1130760"/>
            <a:ext cx="3927240" cy="70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709160" y="1577520"/>
            <a:ext cx="3977280" cy="500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7"/>
          </p:nvPr>
        </p:nvSpPr>
        <p:spPr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dt" idx="8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sldNum" idx="9"/>
          </p:nvPr>
        </p:nvSpPr>
        <p:spPr>
          <a:xfrm>
            <a:off x="7386120" y="6328440"/>
            <a:ext cx="755280" cy="29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>
              <a:lnSpc>
                <a:spcPts val="2064"/>
              </a:lnSpc>
              <a:buNone/>
              <a:defRPr b="0" lang="en-US" sz="1800" spc="-1" strike="noStrike">
                <a:solidFill>
                  <a:schemeClr val="lt1"/>
                </a:solidFill>
                <a:latin typeface="Times New Roman"/>
              </a:defRPr>
            </a:lvl1pPr>
          </a:lstStyle>
          <a:p>
            <a:pPr marL="12600" indent="0">
              <a:lnSpc>
                <a:spcPts val="2064"/>
              </a:lnSpc>
              <a:buNone/>
            </a:pPr>
            <a:r>
              <a:rPr b="0" lang="en-US" sz="1800" spc="-1" strike="noStrike">
                <a:solidFill>
                  <a:schemeClr val="lt1"/>
                </a:solidFill>
                <a:latin typeface="Times New Roman"/>
              </a:rPr>
              <a:t>Page</a:t>
            </a:r>
            <a:r>
              <a:rPr b="0" lang="en-US" sz="1800" spc="-35" strike="noStrike">
                <a:solidFill>
                  <a:schemeClr val="lt1"/>
                </a:solidFill>
                <a:latin typeface="Times New Roman"/>
              </a:rPr>
              <a:t> </a:t>
            </a:r>
            <a:fld id="{C5E4267E-89E0-409C-B784-8BDED37CA01C}" type="slidenum">
              <a:rPr b="0" lang="en-US" sz="1800" spc="-52" strike="noStrike">
                <a:solidFill>
                  <a:schemeClr val="lt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bg object 16" descr=""/>
          <p:cNvPicPr/>
          <p:nvPr/>
        </p:nvPicPr>
        <p:blipFill>
          <a:blip r:embed="rId2"/>
          <a:stretch/>
        </p:blipFill>
        <p:spPr>
          <a:xfrm>
            <a:off x="2910240" y="6120720"/>
            <a:ext cx="3332520" cy="63864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19600" y="126000"/>
            <a:ext cx="8704440" cy="51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0"/>
          </p:nvPr>
        </p:nvSpPr>
        <p:spPr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1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sldNum" idx="12"/>
          </p:nvPr>
        </p:nvSpPr>
        <p:spPr>
          <a:xfrm>
            <a:off x="7386120" y="6328440"/>
            <a:ext cx="755280" cy="29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>
              <a:lnSpc>
                <a:spcPts val="2064"/>
              </a:lnSpc>
              <a:buNone/>
              <a:defRPr b="0" lang="en-US" sz="1800" spc="-1" strike="noStrike">
                <a:solidFill>
                  <a:schemeClr val="lt1"/>
                </a:solidFill>
                <a:latin typeface="Times New Roman"/>
              </a:defRPr>
            </a:lvl1pPr>
          </a:lstStyle>
          <a:p>
            <a:pPr marL="12600" indent="0">
              <a:lnSpc>
                <a:spcPts val="2064"/>
              </a:lnSpc>
              <a:buNone/>
            </a:pPr>
            <a:r>
              <a:rPr b="0" lang="en-US" sz="1800" spc="-1" strike="noStrike">
                <a:solidFill>
                  <a:schemeClr val="lt1"/>
                </a:solidFill>
                <a:latin typeface="Times New Roman"/>
              </a:rPr>
              <a:t>Page</a:t>
            </a:r>
            <a:r>
              <a:rPr b="0" lang="en-US" sz="1800" spc="-35" strike="noStrike">
                <a:solidFill>
                  <a:schemeClr val="lt1"/>
                </a:solidFill>
                <a:latin typeface="Times New Roman"/>
              </a:rPr>
              <a:t> </a:t>
            </a:r>
            <a:fld id="{8C32188A-DB77-47E3-9D4B-EBEF57169692}" type="slidenum">
              <a:rPr b="0" lang="en-US" sz="1800" spc="-52" strike="noStrike">
                <a:solidFill>
                  <a:schemeClr val="lt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bg object 16" descr=""/>
          <p:cNvPicPr/>
          <p:nvPr/>
        </p:nvPicPr>
        <p:blipFill>
          <a:blip r:embed="rId2"/>
          <a:stretch/>
        </p:blipFill>
        <p:spPr>
          <a:xfrm>
            <a:off x="2910240" y="6120720"/>
            <a:ext cx="3332520" cy="63864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ftr" idx="13"/>
          </p:nvPr>
        </p:nvSpPr>
        <p:spPr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dt" idx="14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15"/>
          </p:nvPr>
        </p:nvSpPr>
        <p:spPr>
          <a:xfrm>
            <a:off x="7386120" y="6328440"/>
            <a:ext cx="755280" cy="29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>
              <a:lnSpc>
                <a:spcPts val="2064"/>
              </a:lnSpc>
              <a:buNone/>
              <a:defRPr b="0" lang="en-US" sz="1800" spc="-1" strike="noStrike">
                <a:solidFill>
                  <a:schemeClr val="lt1"/>
                </a:solidFill>
                <a:latin typeface="Times New Roman"/>
              </a:defRPr>
            </a:lvl1pPr>
          </a:lstStyle>
          <a:p>
            <a:pPr marL="12600" indent="0">
              <a:lnSpc>
                <a:spcPts val="2064"/>
              </a:lnSpc>
              <a:buNone/>
            </a:pPr>
            <a:r>
              <a:rPr b="0" lang="en-US" sz="1800" spc="-1" strike="noStrike">
                <a:solidFill>
                  <a:schemeClr val="lt1"/>
                </a:solidFill>
                <a:latin typeface="Times New Roman"/>
              </a:rPr>
              <a:t>Page</a:t>
            </a:r>
            <a:r>
              <a:rPr b="0" lang="en-US" sz="1800" spc="-35" strike="noStrike">
                <a:solidFill>
                  <a:schemeClr val="lt1"/>
                </a:solidFill>
                <a:latin typeface="Times New Roman"/>
              </a:rPr>
              <a:t> </a:t>
            </a:r>
            <a:fld id="{6355F4C8-FCA5-47BE-B387-DA23A2BE2FEC}" type="slidenum">
              <a:rPr b="0" lang="en-US" sz="1800" spc="-52" strike="noStrike">
                <a:solidFill>
                  <a:schemeClr val="lt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8.png"/><Relationship Id="rId10" Type="http://schemas.openxmlformats.org/officeDocument/2006/relationships/image" Target="../media/image17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0.png"/><Relationship Id="rId15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1.jpe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0.png"/><Relationship Id="rId10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22.png"/><Relationship Id="rId4" Type="http://schemas.openxmlformats.org/officeDocument/2006/relationships/image" Target="../media/image1.jpe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Relationship Id="rId9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1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123280" y="388440"/>
            <a:ext cx="512712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i="1" lang="en-US" sz="6000" spc="-1" strike="noStrike">
                <a:solidFill>
                  <a:srgbClr val="006fc0"/>
                </a:solidFill>
                <a:latin typeface="Times New Roman"/>
              </a:rPr>
              <a:t>WELCOME</a:t>
            </a:r>
            <a:r>
              <a:rPr b="1" i="1" lang="en-US" sz="6000" spc="-327" strike="noStrike">
                <a:solidFill>
                  <a:srgbClr val="006fc0"/>
                </a:solidFill>
                <a:latin typeface="Times New Roman"/>
              </a:rPr>
              <a:t> </a:t>
            </a:r>
            <a:r>
              <a:rPr b="1" i="1" lang="en-US" sz="6000" spc="-26" strike="noStrike">
                <a:solidFill>
                  <a:srgbClr val="006fc0"/>
                </a:solidFill>
                <a:latin typeface="Times New Roman"/>
              </a:rPr>
              <a:t>TO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object 3"/>
          <p:cNvSpPr/>
          <p:nvPr/>
        </p:nvSpPr>
        <p:spPr>
          <a:xfrm>
            <a:off x="565920" y="1922040"/>
            <a:ext cx="8241840" cy="22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algn="ctr">
              <a:lnSpc>
                <a:spcPct val="100000"/>
              </a:lnSpc>
              <a:spcBef>
                <a:spcPts val="96"/>
              </a:spcBef>
            </a:pPr>
            <a:r>
              <a:rPr b="1" lang="en-US" sz="4000" spc="-1" strike="noStrike">
                <a:solidFill>
                  <a:srgbClr val="943735"/>
                </a:solidFill>
                <a:latin typeface="Times New Roman"/>
              </a:rPr>
              <a:t>DEPARTMENT</a:t>
            </a:r>
            <a:r>
              <a:rPr b="1" lang="en-US" sz="4000" spc="-97" strike="noStrike">
                <a:solidFill>
                  <a:srgbClr val="943735"/>
                </a:solidFill>
                <a:latin typeface="Times New Roman"/>
              </a:rPr>
              <a:t> </a:t>
            </a:r>
            <a:r>
              <a:rPr b="1" lang="en-US" sz="4000" spc="-1" strike="noStrike">
                <a:solidFill>
                  <a:srgbClr val="943735"/>
                </a:solidFill>
                <a:latin typeface="Times New Roman"/>
              </a:rPr>
              <a:t>OF</a:t>
            </a:r>
            <a:r>
              <a:rPr b="1" lang="en-US" sz="4000" spc="-111" strike="noStrike">
                <a:solidFill>
                  <a:srgbClr val="943735"/>
                </a:solidFill>
                <a:latin typeface="Times New Roman"/>
              </a:rPr>
              <a:t> </a:t>
            </a:r>
            <a:r>
              <a:rPr b="1" lang="en-US" sz="4000" spc="-12" strike="noStrike">
                <a:solidFill>
                  <a:srgbClr val="943735"/>
                </a:solidFill>
                <a:latin typeface="Times New Roman"/>
              </a:rPr>
              <a:t>AI&amp;DS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b="1" lang="en-US" sz="5400" spc="-1" strike="noStrike">
                <a:solidFill>
                  <a:srgbClr val="e36c09"/>
                </a:solidFill>
                <a:latin typeface="Berlin Sans FB Demi"/>
              </a:rPr>
              <a:t>MINI</a:t>
            </a:r>
            <a:r>
              <a:rPr b="1" lang="en-US" sz="5400" spc="-92" strike="noStrike">
                <a:solidFill>
                  <a:srgbClr val="e36c09"/>
                </a:solidFill>
                <a:latin typeface="Berlin Sans FB Demi"/>
              </a:rPr>
              <a:t> </a:t>
            </a:r>
            <a:r>
              <a:rPr b="1" lang="en-US" sz="5400" spc="-1" strike="noStrike">
                <a:solidFill>
                  <a:srgbClr val="e36c09"/>
                </a:solidFill>
                <a:latin typeface="Berlin Sans FB Demi"/>
              </a:rPr>
              <a:t>PROJECT</a:t>
            </a:r>
            <a:r>
              <a:rPr b="1" lang="en-US" sz="5400" spc="-72" strike="noStrike">
                <a:solidFill>
                  <a:srgbClr val="e36c09"/>
                </a:solidFill>
                <a:latin typeface="Berlin Sans FB Demi"/>
              </a:rPr>
              <a:t> </a:t>
            </a:r>
            <a:r>
              <a:rPr b="1" lang="en-US" sz="5400" spc="-12" strike="noStrike">
                <a:solidFill>
                  <a:srgbClr val="e36c09"/>
                </a:solidFill>
                <a:latin typeface="Berlin Sans FB Demi"/>
              </a:rPr>
              <a:t>EXPO-</a:t>
            </a:r>
            <a:r>
              <a:rPr b="1" lang="en-US" sz="5400" spc="-21" strike="noStrike">
                <a:solidFill>
                  <a:srgbClr val="e36c09"/>
                </a:solidFill>
                <a:latin typeface="Berlin Sans FB Demi"/>
              </a:rPr>
              <a:t>2026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object 4" descr="D:\for stall add 09\college video\003.jpg"/>
          <p:cNvPicPr/>
          <p:nvPr/>
        </p:nvPicPr>
        <p:blipFill>
          <a:blip r:embed="rId1"/>
          <a:stretch/>
        </p:blipFill>
        <p:spPr>
          <a:xfrm>
            <a:off x="0" y="3352680"/>
            <a:ext cx="9143640" cy="350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object 2" descr=""/>
          <p:cNvPicPr/>
          <p:nvPr/>
        </p:nvPicPr>
        <p:blipFill>
          <a:blip r:embed="rId1"/>
          <a:stretch/>
        </p:blipFill>
        <p:spPr>
          <a:xfrm>
            <a:off x="1734480" y="184680"/>
            <a:ext cx="5428080" cy="1087560"/>
          </a:xfrm>
          <a:prstGeom prst="rect">
            <a:avLst/>
          </a:prstGeom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140120" y="1343880"/>
            <a:ext cx="708228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Department</a:t>
            </a:r>
            <a:r>
              <a:rPr b="1" lang="en-US" sz="2400" spc="-4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of</a:t>
            </a:r>
            <a:r>
              <a:rPr b="1" lang="en-US" sz="2400" spc="-4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Artificial</a:t>
            </a:r>
            <a:r>
              <a:rPr b="1" lang="en-US" sz="2400" spc="-8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Intelligence</a:t>
            </a:r>
            <a:r>
              <a:rPr b="1" lang="en-US" sz="2400" spc="-7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and</a:t>
            </a:r>
            <a:r>
              <a:rPr b="1" lang="en-US" sz="2400" spc="-4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Data</a:t>
            </a:r>
            <a:r>
              <a:rPr b="1" lang="en-US" sz="2400" spc="-3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Times New Roman"/>
              </a:rPr>
              <a:t>Science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object 10"/>
          <p:cNvSpPr/>
          <p:nvPr/>
        </p:nvSpPr>
        <p:spPr>
          <a:xfrm>
            <a:off x="1035360" y="2018880"/>
            <a:ext cx="7041240" cy="9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955880" indent="-1943640">
              <a:lnSpc>
                <a:spcPct val="100000"/>
              </a:lnSpc>
              <a:spcBef>
                <a:spcPts val="105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MedMesh:</a:t>
            </a:r>
            <a:r>
              <a:rPr b="0" lang="en-US" sz="3200" spc="-60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3200" spc="-12" strike="noStrike">
                <a:solidFill>
                  <a:srgbClr val="000000"/>
                </a:solidFill>
                <a:latin typeface="Times New Roman"/>
              </a:rPr>
              <a:t>Real-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Time</a:t>
            </a:r>
            <a:r>
              <a:rPr b="0" lang="en-US" sz="3200" spc="-7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Healthcare</a:t>
            </a:r>
            <a:r>
              <a:rPr b="0" lang="en-US" sz="3200" spc="-7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3200" spc="-12" strike="noStrike">
                <a:solidFill>
                  <a:srgbClr val="000000"/>
                </a:solidFill>
                <a:latin typeface="Times New Roman"/>
              </a:rPr>
              <a:t>Capacity 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Exchange</a:t>
            </a:r>
            <a:r>
              <a:rPr b="0" lang="en-US" sz="3200" spc="-5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3200" spc="-12" strike="noStrike">
                <a:solidFill>
                  <a:srgbClr val="000000"/>
                </a:solidFill>
                <a:latin typeface="Times New Roman"/>
              </a:rPr>
              <a:t>Network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object 13"/>
          <p:cNvSpPr/>
          <p:nvPr/>
        </p:nvSpPr>
        <p:spPr>
          <a:xfrm>
            <a:off x="831960" y="3683520"/>
            <a:ext cx="2327040" cy="18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240" bIns="0" anchor="t">
            <a:spAutoFit/>
          </a:bodyPr>
          <a:p>
            <a:pPr marL="12600">
              <a:lnSpc>
                <a:spcPct val="100000"/>
              </a:lnSpc>
              <a:spcBef>
                <a:spcPts val="1301"/>
              </a:spcBef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Guide</a:t>
            </a:r>
            <a:r>
              <a:rPr b="1" lang="en-US" sz="2000" spc="-26" strike="noStrike">
                <a:solidFill>
                  <a:srgbClr val="000000"/>
                </a:solidFill>
                <a:latin typeface="Times New Roman"/>
              </a:rPr>
              <a:t> by: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5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Mrs.</a:t>
            </a:r>
            <a:r>
              <a:rPr b="1" lang="en-US" sz="20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M. </a:t>
            </a:r>
            <a:r>
              <a:rPr b="1" lang="en-US" sz="2000" spc="-12" strike="noStrike">
                <a:solidFill>
                  <a:srgbClr val="000000"/>
                </a:solidFill>
                <a:latin typeface="Times New Roman"/>
              </a:rPr>
              <a:t>Geethapriya 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Assistant</a:t>
            </a:r>
            <a:r>
              <a:rPr b="1" lang="en-US" sz="2000" spc="-3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Times New Roman"/>
              </a:rPr>
              <a:t>Professor AI&amp;DS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object 11"/>
          <p:cNvSpPr/>
          <p:nvPr/>
        </p:nvSpPr>
        <p:spPr>
          <a:xfrm>
            <a:off x="5265720" y="3637440"/>
            <a:ext cx="3106800" cy="18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240" bIns="0" anchor="t">
            <a:spAutoFit/>
          </a:bodyPr>
          <a:p>
            <a:pPr marL="12600">
              <a:lnSpc>
                <a:spcPct val="100000"/>
              </a:lnSpc>
              <a:spcBef>
                <a:spcPts val="1301"/>
              </a:spcBef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Presented</a:t>
            </a:r>
            <a:r>
              <a:rPr b="1" lang="en-US" sz="20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000" spc="-26" strike="noStrike">
                <a:solidFill>
                  <a:srgbClr val="000000"/>
                </a:solidFill>
                <a:latin typeface="Times New Roman"/>
              </a:rPr>
              <a:t>By: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5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Vishal</a:t>
            </a:r>
            <a:r>
              <a:rPr b="1" lang="en-US" sz="20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G</a:t>
            </a:r>
            <a:r>
              <a:rPr b="1" lang="en-US" sz="2000" spc="-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Times New Roman"/>
              </a:rPr>
              <a:t>(23AD060) 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Sabarivasan</a:t>
            </a:r>
            <a:r>
              <a:rPr b="1" lang="en-US" sz="2000" spc="-5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E</a:t>
            </a:r>
            <a:r>
              <a:rPr b="1" lang="en-US" sz="2000" spc="-12" strike="noStrike">
                <a:solidFill>
                  <a:srgbClr val="000000"/>
                </a:solidFill>
                <a:latin typeface="Times New Roman"/>
              </a:rPr>
              <a:t> (23AD043) 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Sanjaieswaran</a:t>
            </a:r>
            <a:r>
              <a:rPr b="1" lang="en-US" sz="2000" spc="-4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A</a:t>
            </a:r>
            <a:r>
              <a:rPr b="1" lang="en-US" sz="2000" spc="-12" strike="noStrike">
                <a:solidFill>
                  <a:srgbClr val="000000"/>
                </a:solidFill>
                <a:latin typeface="Times New Roman"/>
              </a:rPr>
              <a:t> (23AD048)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6" name="object 3"/>
          <p:cNvGrpSpPr/>
          <p:nvPr/>
        </p:nvGrpSpPr>
        <p:grpSpPr>
          <a:xfrm>
            <a:off x="0" y="6457320"/>
            <a:ext cx="9143640" cy="400320"/>
            <a:chOff x="0" y="6457320"/>
            <a:chExt cx="9143640" cy="400320"/>
          </a:xfrm>
        </p:grpSpPr>
        <p:pic>
          <p:nvPicPr>
            <p:cNvPr id="47" name="object 4" descr=""/>
            <p:cNvPicPr/>
            <p:nvPr/>
          </p:nvPicPr>
          <p:blipFill>
            <a:blip r:embed="rId2"/>
            <a:stretch/>
          </p:blipFill>
          <p:spPr>
            <a:xfrm>
              <a:off x="0" y="6475320"/>
              <a:ext cx="4626720" cy="382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8" name="object 5" descr=""/>
            <p:cNvPicPr/>
            <p:nvPr/>
          </p:nvPicPr>
          <p:blipFill>
            <a:blip r:embed="rId3"/>
            <a:stretch/>
          </p:blipFill>
          <p:spPr>
            <a:xfrm>
              <a:off x="0" y="6504480"/>
              <a:ext cx="4579200" cy="340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9" name="object 6"/>
            <p:cNvSpPr/>
            <p:nvPr/>
          </p:nvSpPr>
          <p:spPr>
            <a:xfrm>
              <a:off x="0" y="6504480"/>
              <a:ext cx="4579200" cy="341280"/>
            </a:xfrm>
            <a:custGeom>
              <a:avLst/>
              <a:gdLst>
                <a:gd name="textAreaLeft" fmla="*/ 0 w 4579200"/>
                <a:gd name="textAreaRight" fmla="*/ 4579560 w 4579200"/>
                <a:gd name="textAreaTop" fmla="*/ 0 h 341280"/>
                <a:gd name="textAreaBottom" fmla="*/ 341640 h 341280"/>
              </a:gdLst>
              <a:ahLst/>
              <a:rect l="textAreaLeft" t="textAreaTop" r="textAreaRight" b="textAreaBottom"/>
              <a:pathLst>
                <a:path w="4579620" h="341629">
                  <a:moveTo>
                    <a:pt x="0" y="341375"/>
                  </a:moveTo>
                  <a:lnTo>
                    <a:pt x="4579620" y="341375"/>
                  </a:lnTo>
                  <a:lnTo>
                    <a:pt x="4579620" y="0"/>
                  </a:lnTo>
                  <a:lnTo>
                    <a:pt x="0" y="0"/>
                  </a:lnTo>
                </a:path>
              </a:pathLst>
            </a:custGeom>
            <a:noFill/>
            <a:ln w="9144">
              <a:solidFill>
                <a:srgbClr val="97b85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50" name="object 7" descr=""/>
            <p:cNvPicPr/>
            <p:nvPr/>
          </p:nvPicPr>
          <p:blipFill>
            <a:blip r:embed="rId4"/>
            <a:stretch/>
          </p:blipFill>
          <p:spPr>
            <a:xfrm>
              <a:off x="4507920" y="6457320"/>
              <a:ext cx="4635720" cy="400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1" name="object 8" descr=""/>
            <p:cNvPicPr/>
            <p:nvPr/>
          </p:nvPicPr>
          <p:blipFill>
            <a:blip r:embed="rId5"/>
            <a:stretch/>
          </p:blipFill>
          <p:spPr>
            <a:xfrm>
              <a:off x="4578120" y="6504480"/>
              <a:ext cx="4559400" cy="340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2" name="object 9"/>
            <p:cNvSpPr/>
            <p:nvPr/>
          </p:nvSpPr>
          <p:spPr>
            <a:xfrm>
              <a:off x="4578120" y="6504480"/>
              <a:ext cx="4559400" cy="341280"/>
            </a:xfrm>
            <a:custGeom>
              <a:avLst/>
              <a:gdLst>
                <a:gd name="textAreaLeft" fmla="*/ 0 w 4559400"/>
                <a:gd name="textAreaRight" fmla="*/ 4559760 w 4559400"/>
                <a:gd name="textAreaTop" fmla="*/ 0 h 341280"/>
                <a:gd name="textAreaBottom" fmla="*/ 341640 h 341280"/>
              </a:gdLst>
              <a:ahLst/>
              <a:rect l="textAreaLeft" t="textAreaTop" r="textAreaRight" b="textAreaBottom"/>
              <a:pathLst>
                <a:path w="4559934" h="341629">
                  <a:moveTo>
                    <a:pt x="0" y="341375"/>
                  </a:moveTo>
                  <a:lnTo>
                    <a:pt x="4559808" y="341375"/>
                  </a:lnTo>
                  <a:lnTo>
                    <a:pt x="4559808" y="0"/>
                  </a:lnTo>
                  <a:lnTo>
                    <a:pt x="0" y="0"/>
                  </a:lnTo>
                  <a:lnTo>
                    <a:pt x="0" y="341375"/>
                  </a:lnTo>
                  <a:close/>
                </a:path>
              </a:pathLst>
            </a:custGeom>
            <a:noFill/>
            <a:ln w="9144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object 9"/>
          <p:cNvGrpSpPr/>
          <p:nvPr/>
        </p:nvGrpSpPr>
        <p:grpSpPr>
          <a:xfrm>
            <a:off x="0" y="0"/>
            <a:ext cx="9143640" cy="843120"/>
            <a:chOff x="0" y="0"/>
            <a:chExt cx="9143640" cy="843120"/>
          </a:xfrm>
        </p:grpSpPr>
        <p:pic>
          <p:nvPicPr>
            <p:cNvPr id="54" name="object 10" descr=""/>
            <p:cNvPicPr/>
            <p:nvPr/>
          </p:nvPicPr>
          <p:blipFill>
            <a:blip r:embed="rId1"/>
            <a:stretch/>
          </p:blipFill>
          <p:spPr>
            <a:xfrm>
              <a:off x="0" y="771120"/>
              <a:ext cx="9143640" cy="72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5" name="object 11" descr="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9143640" cy="770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6" name="object 12"/>
            <p:cNvSpPr/>
            <p:nvPr/>
          </p:nvSpPr>
          <p:spPr>
            <a:xfrm>
              <a:off x="0" y="0"/>
              <a:ext cx="9143640" cy="771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771120"/>
                <a:gd name="textAreaBottom" fmla="*/ 771480 h 771120"/>
              </a:gdLst>
              <a:ahLst/>
              <a:rect l="textAreaLeft" t="textAreaTop" r="textAreaRight" b="textAreaBottom"/>
              <a:pathLst>
                <a:path w="9144000" h="771525">
                  <a:moveTo>
                    <a:pt x="0" y="771144"/>
                  </a:moveTo>
                  <a:lnTo>
                    <a:pt x="9144000" y="771144"/>
                  </a:lnTo>
                  <a:lnTo>
                    <a:pt x="9144000" y="0"/>
                  </a:lnTo>
                  <a:lnTo>
                    <a:pt x="0" y="0"/>
                  </a:lnTo>
                </a:path>
              </a:pathLst>
            </a:custGeom>
            <a:noFill/>
            <a:ln w="9143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19600" y="126000"/>
            <a:ext cx="870444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323208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3200" spc="-12" strike="noStrike">
                <a:solidFill>
                  <a:schemeClr val="lt1"/>
                </a:solidFill>
                <a:latin typeface="Times New Roman"/>
              </a:rPr>
              <a:t>ABSTRACT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object 14"/>
          <p:cNvSpPr/>
          <p:nvPr/>
        </p:nvSpPr>
        <p:spPr>
          <a:xfrm>
            <a:off x="573120" y="847440"/>
            <a:ext cx="7888320" cy="4986360"/>
          </a:xfrm>
          <a:custGeom>
            <a:avLst/>
            <a:gdLst>
              <a:gd name="textAreaLeft" fmla="*/ 0 w 7888320"/>
              <a:gd name="textAreaRight" fmla="*/ 7888680 w 7888320"/>
              <a:gd name="textAreaTop" fmla="*/ 0 h 4986360"/>
              <a:gd name="textAreaBottom" fmla="*/ 4986720 h 4986360"/>
            </a:gdLst>
            <a:ahLst/>
            <a:rect l="textAreaLeft" t="textAreaTop" r="textAreaRight" b="textAreaBottom"/>
            <a:pathLst>
              <a:path w="7888605" h="4986655">
                <a:moveTo>
                  <a:pt x="7888224" y="0"/>
                </a:moveTo>
                <a:lnTo>
                  <a:pt x="0" y="0"/>
                </a:lnTo>
                <a:lnTo>
                  <a:pt x="0" y="4986528"/>
                </a:lnTo>
                <a:lnTo>
                  <a:pt x="7888224" y="4986528"/>
                </a:lnTo>
                <a:lnTo>
                  <a:pt x="788822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object 15"/>
          <p:cNvSpPr/>
          <p:nvPr/>
        </p:nvSpPr>
        <p:spPr>
          <a:xfrm>
            <a:off x="560520" y="1041840"/>
            <a:ext cx="7916760" cy="19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99160" indent="-28656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Symbol" charset="2"/>
              <a:buChar char=""/>
              <a:tabLst>
                <a:tab algn="l" pos="29916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Hospitals</a:t>
            </a:r>
            <a:r>
              <a:rPr b="0" lang="en-US" sz="1800" spc="19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across</a:t>
            </a:r>
            <a:r>
              <a:rPr b="0" lang="en-US" sz="1800" spc="21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800" spc="20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city</a:t>
            </a:r>
            <a:r>
              <a:rPr b="0" lang="en-US" sz="1800" spc="18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or</a:t>
            </a:r>
            <a:r>
              <a:rPr b="0" lang="en-US" sz="1800" spc="21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state</a:t>
            </a:r>
            <a:r>
              <a:rPr b="0" lang="en-US" sz="1800" spc="208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operate</a:t>
            </a:r>
            <a:r>
              <a:rPr b="0" lang="en-US" sz="1800" spc="208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as</a:t>
            </a:r>
            <a:r>
              <a:rPr b="0" lang="en-US" sz="1800" spc="21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isolated</a:t>
            </a:r>
            <a:r>
              <a:rPr b="0" lang="en-US" sz="1800" spc="208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islands</a:t>
            </a:r>
            <a:r>
              <a:rPr b="0" lang="en-US" sz="1800" spc="208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each</a:t>
            </a:r>
            <a:r>
              <a:rPr b="0" lang="en-US" sz="1800" spc="208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tracking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99160" algn="just">
              <a:lnSpc>
                <a:spcPct val="200000"/>
              </a:lnSpc>
              <a:tabLst>
                <a:tab algn="l" pos="29916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bed,</a:t>
            </a:r>
            <a:r>
              <a:rPr b="0" lang="en-US" sz="1800" spc="6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ICU,</a:t>
            </a:r>
            <a:r>
              <a:rPr b="0" lang="en-US" sz="1800" spc="6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800" spc="7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ventilator</a:t>
            </a:r>
            <a:r>
              <a:rPr b="0" lang="en-US" sz="1800" spc="58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status</a:t>
            </a:r>
            <a:r>
              <a:rPr b="0" lang="en-US" sz="1800" spc="7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internally,</a:t>
            </a:r>
            <a:r>
              <a:rPr b="0" lang="en-US" sz="1800" spc="9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while</a:t>
            </a:r>
            <a:r>
              <a:rPr b="0" lang="en-US" sz="1800" spc="6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citizens,</a:t>
            </a:r>
            <a:r>
              <a:rPr b="0" lang="en-US" sz="1800" spc="7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ambulance</a:t>
            </a:r>
            <a:r>
              <a:rPr b="0" lang="en-US" sz="1800" spc="6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crews,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800" spc="-7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health</a:t>
            </a:r>
            <a:r>
              <a:rPr b="0" lang="en-US" sz="1800" spc="4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officials</a:t>
            </a:r>
            <a:r>
              <a:rPr b="0" lang="en-US" sz="1800" spc="9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have</a:t>
            </a:r>
            <a:r>
              <a:rPr b="0" lang="en-US" sz="1800" spc="9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</a:t>
            </a:r>
            <a:r>
              <a:rPr b="0" lang="en-US" sz="1800" spc="9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real-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time</a:t>
            </a:r>
            <a:r>
              <a:rPr b="0" lang="en-US" sz="1800" spc="9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view  of</a:t>
            </a:r>
            <a:r>
              <a:rPr b="0" lang="en-US" sz="1800" spc="18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where</a:t>
            </a:r>
            <a:r>
              <a:rPr b="0" lang="en-US" sz="1800" spc="9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capacity</a:t>
            </a:r>
            <a:r>
              <a:rPr b="0" lang="en-US" sz="1800" spc="4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actually exists.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object 16"/>
          <p:cNvSpPr/>
          <p:nvPr/>
        </p:nvSpPr>
        <p:spPr>
          <a:xfrm>
            <a:off x="560520" y="3236760"/>
            <a:ext cx="695340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99160" indent="-28656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Symbol" charset="2"/>
              <a:buChar char=""/>
              <a:tabLst>
                <a:tab algn="l" pos="299160"/>
                <a:tab algn="l" pos="1487880"/>
                <a:tab algn="l" pos="2169000"/>
                <a:tab algn="l" pos="2481480"/>
                <a:tab algn="l" pos="3366720"/>
                <a:tab algn="l" pos="3996720"/>
                <a:tab algn="l" pos="4678200"/>
                <a:tab algn="l" pos="5116680"/>
                <a:tab algn="l" pos="5619600"/>
                <a:tab algn="l" pos="5996160"/>
              </a:tabLst>
            </a:pP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MedMesh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adds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52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shared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data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layer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on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top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hospitals'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object 17"/>
          <p:cNvSpPr/>
          <p:nvPr/>
        </p:nvSpPr>
        <p:spPr>
          <a:xfrm>
            <a:off x="847080" y="3785760"/>
            <a:ext cx="67654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1510560"/>
                <a:tab algn="l" pos="2576160"/>
                <a:tab algn="l" pos="3438360"/>
                <a:tab algn="l" pos="4201200"/>
                <a:tab algn="l" pos="5457240"/>
                <a:tab algn="l" pos="6384960"/>
              </a:tabLst>
            </a:pP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management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systems,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turning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siloed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occupancy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records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into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object 18"/>
          <p:cNvSpPr/>
          <p:nvPr/>
        </p:nvSpPr>
        <p:spPr>
          <a:xfrm>
            <a:off x="7675560" y="3236760"/>
            <a:ext cx="800280" cy="248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existing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4840" indent="63360">
              <a:lnSpc>
                <a:spcPct val="200000"/>
              </a:lnSpc>
              <a:tabLst>
                <a:tab algn="l" pos="0"/>
              </a:tabLst>
            </a:pPr>
            <a:r>
              <a:rPr b="0" lang="en-US" sz="1800" spc="-52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live,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patient-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object 19"/>
          <p:cNvSpPr/>
          <p:nvPr/>
        </p:nvSpPr>
        <p:spPr>
          <a:xfrm>
            <a:off x="847080" y="4334400"/>
            <a:ext cx="6672960" cy="84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1321560"/>
                <a:tab algn="l" pos="2351880"/>
                <a:tab algn="l" pos="3054240"/>
                <a:tab algn="l" pos="3681000"/>
                <a:tab algn="l" pos="4559400"/>
                <a:tab algn="l" pos="5538960"/>
                <a:tab algn="l" pos="5986080"/>
              </a:tabLst>
            </a:pP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searchable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capacity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map.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This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project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focuses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on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cutting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1"/>
              </a:spcBef>
              <a:tabLst>
                <a:tab algn="l" pos="1321560"/>
                <a:tab algn="l" pos="2351880"/>
                <a:tab algn="l" pos="3054240"/>
                <a:tab algn="l" pos="3681000"/>
                <a:tab algn="l" pos="4559400"/>
                <a:tab algn="l" pos="5538960"/>
                <a:tab algn="l" pos="598608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tabLst>
                <a:tab algn="l" pos="1228680"/>
                <a:tab algn="l" pos="2050560"/>
                <a:tab algn="l" pos="2594520"/>
                <a:tab algn="l" pos="3684240"/>
                <a:tab algn="l" pos="4902120"/>
                <a:tab algn="l" pos="6159600"/>
              </a:tabLst>
            </a:pP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placement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delays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replacing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phone-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call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guesswork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with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object 20"/>
          <p:cNvSpPr/>
          <p:nvPr/>
        </p:nvSpPr>
        <p:spPr>
          <a:xfrm>
            <a:off x="7559640" y="4882680"/>
            <a:ext cx="9165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real-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time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object 21"/>
          <p:cNvSpPr/>
          <p:nvPr/>
        </p:nvSpPr>
        <p:spPr>
          <a:xfrm>
            <a:off x="847080" y="5432040"/>
            <a:ext cx="55623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visibility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emergency</a:t>
            </a:r>
            <a:r>
              <a:rPr b="0" lang="en-US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responders</a:t>
            </a:r>
            <a:r>
              <a:rPr b="0" lang="en-US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health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officials.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6" name="object 2"/>
          <p:cNvGrpSpPr/>
          <p:nvPr/>
        </p:nvGrpSpPr>
        <p:grpSpPr>
          <a:xfrm>
            <a:off x="0" y="6026040"/>
            <a:ext cx="9143640" cy="831600"/>
            <a:chOff x="0" y="6026040"/>
            <a:chExt cx="9143640" cy="831600"/>
          </a:xfrm>
        </p:grpSpPr>
        <p:pic>
          <p:nvPicPr>
            <p:cNvPr id="67" name="object 3" descr=""/>
            <p:cNvPicPr/>
            <p:nvPr/>
          </p:nvPicPr>
          <p:blipFill>
            <a:blip r:embed="rId3"/>
            <a:stretch/>
          </p:blipFill>
          <p:spPr>
            <a:xfrm>
              <a:off x="0" y="6044040"/>
              <a:ext cx="2899800" cy="813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8" name="object 4" descr=""/>
            <p:cNvPicPr/>
            <p:nvPr/>
          </p:nvPicPr>
          <p:blipFill>
            <a:blip r:embed="rId4"/>
            <a:stretch/>
          </p:blipFill>
          <p:spPr>
            <a:xfrm>
              <a:off x="0" y="6073200"/>
              <a:ext cx="2852640" cy="77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9" name="object 5"/>
            <p:cNvSpPr/>
            <p:nvPr/>
          </p:nvSpPr>
          <p:spPr>
            <a:xfrm>
              <a:off x="0" y="6073200"/>
              <a:ext cx="2852640" cy="772560"/>
            </a:xfrm>
            <a:custGeom>
              <a:avLst/>
              <a:gdLst>
                <a:gd name="textAreaLeft" fmla="*/ 0 w 2852640"/>
                <a:gd name="textAreaRight" fmla="*/ 2853000 w 2852640"/>
                <a:gd name="textAreaTop" fmla="*/ 0 h 772560"/>
                <a:gd name="textAreaBottom" fmla="*/ 772920 h 772560"/>
              </a:gdLst>
              <a:ahLst/>
              <a:rect l="textAreaLeft" t="textAreaTop" r="textAreaRight" b="textAreaBottom"/>
              <a:pathLst>
                <a:path w="2853055" h="772795">
                  <a:moveTo>
                    <a:pt x="0" y="772668"/>
                  </a:moveTo>
                  <a:lnTo>
                    <a:pt x="2852928" y="772668"/>
                  </a:lnTo>
                  <a:lnTo>
                    <a:pt x="2852928" y="0"/>
                  </a:lnTo>
                  <a:lnTo>
                    <a:pt x="0" y="0"/>
                  </a:lnTo>
                </a:path>
              </a:pathLst>
            </a:custGeom>
            <a:noFill/>
            <a:ln w="9144">
              <a:solidFill>
                <a:srgbClr val="97b85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70" name="object 6" descr=""/>
            <p:cNvPicPr/>
            <p:nvPr/>
          </p:nvPicPr>
          <p:blipFill>
            <a:blip r:embed="rId5"/>
            <a:stretch/>
          </p:blipFill>
          <p:spPr>
            <a:xfrm>
              <a:off x="6198120" y="6026040"/>
              <a:ext cx="2945520" cy="83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1" name="object 7" descr=""/>
            <p:cNvPicPr/>
            <p:nvPr/>
          </p:nvPicPr>
          <p:blipFill>
            <a:blip r:embed="rId6"/>
            <a:stretch/>
          </p:blipFill>
          <p:spPr>
            <a:xfrm>
              <a:off x="6268320" y="6073200"/>
              <a:ext cx="2875320" cy="77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2" name="object 8"/>
            <p:cNvSpPr/>
            <p:nvPr/>
          </p:nvSpPr>
          <p:spPr>
            <a:xfrm>
              <a:off x="0" y="6073200"/>
              <a:ext cx="9143640" cy="7725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772560"/>
                <a:gd name="textAreaBottom" fmla="*/ 772920 h 772560"/>
              </a:gdLst>
              <a:ahLst/>
              <a:rect l="textAreaLeft" t="textAreaTop" r="textAreaRight" b="textAreaBottom"/>
              <a:pathLst>
                <a:path w="9144000" h="772795">
                  <a:moveTo>
                    <a:pt x="6268212" y="772668"/>
                  </a:moveTo>
                  <a:lnTo>
                    <a:pt x="9144000" y="772668"/>
                  </a:lnTo>
                  <a:lnTo>
                    <a:pt x="9144000" y="0"/>
                  </a:lnTo>
                  <a:lnTo>
                    <a:pt x="6268212" y="0"/>
                  </a:lnTo>
                  <a:lnTo>
                    <a:pt x="6268212" y="772668"/>
                  </a:lnTo>
                  <a:close/>
                </a:path>
                <a:path w="9144000" h="77279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144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3" name="PlaceHolder 2"/>
          <p:cNvSpPr>
            <a:spLocks noGrp="1"/>
          </p:cNvSpPr>
          <p:nvPr>
            <p:ph type="sldNum" idx="16"/>
          </p:nvPr>
        </p:nvSpPr>
        <p:spPr>
          <a:xfrm>
            <a:off x="7386120" y="6328440"/>
            <a:ext cx="75528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>
              <a:lnSpc>
                <a:spcPts val="2064"/>
              </a:lnSpc>
              <a:buNone/>
              <a:defRPr b="0" lang="en-US" sz="1800" spc="-1" strike="noStrike">
                <a:solidFill>
                  <a:schemeClr val="lt1"/>
                </a:solidFill>
                <a:latin typeface="Times New Roman"/>
              </a:defRPr>
            </a:lvl1pPr>
          </a:lstStyle>
          <a:p>
            <a:pPr marL="12600" indent="0">
              <a:lnSpc>
                <a:spcPts val="2064"/>
              </a:lnSpc>
              <a:buNone/>
            </a:pPr>
            <a:r>
              <a:rPr b="0" lang="en-US" sz="1800" spc="-1" strike="noStrike">
                <a:solidFill>
                  <a:schemeClr val="lt1"/>
                </a:solidFill>
                <a:latin typeface="Times New Roman"/>
              </a:rPr>
              <a:t>Page</a:t>
            </a:r>
            <a:r>
              <a:rPr b="0" lang="en-US" sz="1800" spc="-35" strike="noStrike">
                <a:solidFill>
                  <a:schemeClr val="lt1"/>
                </a:solidFill>
                <a:latin typeface="Times New Roman"/>
              </a:rPr>
              <a:t> </a:t>
            </a:r>
            <a:r>
              <a:rPr b="0" lang="en-US" sz="1800" spc="-52" strike="noStrike">
                <a:solidFill>
                  <a:schemeClr val="lt1"/>
                </a:solidFill>
                <a:latin typeface="Times New Roman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85080" y="6172200"/>
            <a:ext cx="1829520" cy="54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MedMesh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object 9"/>
          <p:cNvGrpSpPr/>
          <p:nvPr/>
        </p:nvGrpSpPr>
        <p:grpSpPr>
          <a:xfrm>
            <a:off x="0" y="0"/>
            <a:ext cx="9143640" cy="843120"/>
            <a:chOff x="0" y="0"/>
            <a:chExt cx="9143640" cy="843120"/>
          </a:xfrm>
        </p:grpSpPr>
        <p:pic>
          <p:nvPicPr>
            <p:cNvPr id="76" name="object 10" descr=""/>
            <p:cNvPicPr/>
            <p:nvPr/>
          </p:nvPicPr>
          <p:blipFill>
            <a:blip r:embed="rId1"/>
            <a:stretch/>
          </p:blipFill>
          <p:spPr>
            <a:xfrm>
              <a:off x="0" y="771120"/>
              <a:ext cx="9143640" cy="72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7" name="object 11" descr="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9143640" cy="770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8" name="object 12"/>
            <p:cNvSpPr/>
            <p:nvPr/>
          </p:nvSpPr>
          <p:spPr>
            <a:xfrm>
              <a:off x="0" y="0"/>
              <a:ext cx="9143640" cy="771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771120"/>
                <a:gd name="textAreaBottom" fmla="*/ 771480 h 771120"/>
              </a:gdLst>
              <a:ahLst/>
              <a:rect l="textAreaLeft" t="textAreaTop" r="textAreaRight" b="textAreaBottom"/>
              <a:pathLst>
                <a:path w="9144000" h="771525">
                  <a:moveTo>
                    <a:pt x="0" y="771144"/>
                  </a:moveTo>
                  <a:lnTo>
                    <a:pt x="9144000" y="771144"/>
                  </a:lnTo>
                  <a:lnTo>
                    <a:pt x="9144000" y="0"/>
                  </a:lnTo>
                  <a:lnTo>
                    <a:pt x="0" y="0"/>
                  </a:lnTo>
                </a:path>
              </a:pathLst>
            </a:custGeom>
            <a:noFill/>
            <a:ln w="9143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219600" y="126000"/>
            <a:ext cx="870444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27108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3200" spc="-12" strike="noStrike">
                <a:solidFill>
                  <a:schemeClr val="lt1"/>
                </a:solidFill>
                <a:latin typeface="Times New Roman"/>
              </a:rPr>
              <a:t>INTRODUCTION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object 14"/>
          <p:cNvSpPr/>
          <p:nvPr/>
        </p:nvSpPr>
        <p:spPr>
          <a:xfrm>
            <a:off x="696240" y="1060920"/>
            <a:ext cx="7841160" cy="40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466560" indent="-453960" algn="just">
              <a:lnSpc>
                <a:spcPts val="3240"/>
              </a:lnSpc>
              <a:spcBef>
                <a:spcPts val="386"/>
              </a:spcBef>
              <a:buClr>
                <a:srgbClr val="000000"/>
              </a:buClr>
              <a:buSzPct val="111000"/>
              <a:buFont typeface="OpenSymbol"/>
              <a:buAutoNum type="arabicPeriod"/>
              <a:tabLst>
                <a:tab algn="l" pos="4698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Hospitals</a:t>
            </a:r>
            <a:r>
              <a:rPr b="0" lang="en-US" sz="1800" spc="9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track</a:t>
            </a:r>
            <a:r>
              <a:rPr b="0" lang="en-US" sz="1800" spc="12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bed,</a:t>
            </a:r>
            <a:r>
              <a:rPr b="0" lang="en-US" sz="1800" spc="18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ICU,</a:t>
            </a:r>
            <a:r>
              <a:rPr b="0" lang="en-US" sz="1800" spc="12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800" spc="12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ventilator</a:t>
            </a:r>
            <a:r>
              <a:rPr b="0" lang="en-US" sz="1800" spc="12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availability</a:t>
            </a:r>
            <a:r>
              <a:rPr b="0" lang="en-US" sz="1800" spc="4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inside</a:t>
            </a:r>
            <a:r>
              <a:rPr b="0" lang="en-US" sz="1800" spc="12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their</a:t>
            </a:r>
            <a:r>
              <a:rPr b="0" lang="en-US" sz="1800" spc="12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own 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systems,</a:t>
            </a:r>
            <a:r>
              <a:rPr b="0" lang="en-US" sz="1800" spc="89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but</a:t>
            </a:r>
            <a:r>
              <a:rPr b="0" lang="en-US" sz="1800" spc="83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that</a:t>
            </a:r>
            <a:r>
              <a:rPr b="0" lang="en-US" sz="1800" spc="89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data</a:t>
            </a:r>
            <a:r>
              <a:rPr b="0" lang="en-US" sz="1800" spc="83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never</a:t>
            </a:r>
            <a:r>
              <a:rPr b="0" lang="en-US" sz="1800" spc="83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leaves</a:t>
            </a:r>
            <a:r>
              <a:rPr b="0" lang="en-US" sz="1800" spc="89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800" spc="89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building</a:t>
            </a:r>
            <a:r>
              <a:rPr b="0" lang="en-US" sz="1800" spc="83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ambulances</a:t>
            </a:r>
            <a:r>
              <a:rPr b="0" lang="en-US" sz="1800" spc="83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and 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citizens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have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way</a:t>
            </a:r>
            <a:r>
              <a:rPr b="0" lang="en-US" sz="1800" spc="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to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see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 it.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66560" indent="-453960" algn="just">
              <a:lnSpc>
                <a:spcPct val="100000"/>
              </a:lnSpc>
              <a:spcBef>
                <a:spcPts val="595"/>
              </a:spcBef>
              <a:buClr>
                <a:srgbClr val="000000"/>
              </a:buClr>
              <a:buSzPct val="111000"/>
              <a:buFont typeface="OpenSymbol"/>
              <a:buAutoNum type="arabicPeriod"/>
              <a:tabLst>
                <a:tab algn="l" pos="46656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Today's</a:t>
            </a:r>
            <a:r>
              <a:rPr b="0" lang="en-US" sz="1800" spc="168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process</a:t>
            </a:r>
            <a:r>
              <a:rPr b="0" lang="en-US" sz="1800" spc="18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runs</a:t>
            </a:r>
            <a:r>
              <a:rPr b="0" lang="en-US" sz="1800" spc="18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on</a:t>
            </a:r>
            <a:r>
              <a:rPr b="0" lang="en-US" sz="1800" spc="18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phone</a:t>
            </a:r>
            <a:r>
              <a:rPr b="0" lang="en-US" sz="1800" spc="17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calls</a:t>
            </a:r>
            <a:r>
              <a:rPr b="0" lang="en-US" sz="1800" spc="17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dispatchers</a:t>
            </a:r>
            <a:r>
              <a:rPr b="0" lang="en-US" sz="1800" spc="18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ring</a:t>
            </a:r>
            <a:r>
              <a:rPr b="0" lang="en-US" sz="1800" spc="17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hospitals</a:t>
            </a:r>
            <a:r>
              <a:rPr b="0" lang="en-US" sz="1800" spc="188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one</a:t>
            </a:r>
            <a:r>
              <a:rPr b="0" lang="en-US" sz="1800" spc="18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by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69800" algn="just">
              <a:lnSpc>
                <a:spcPct val="100000"/>
              </a:lnSpc>
              <a:spcBef>
                <a:spcPts val="1040"/>
              </a:spcBef>
              <a:tabLst>
                <a:tab algn="l" pos="46656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one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during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an</a:t>
            </a:r>
            <a:r>
              <a:rPr b="0" lang="en-US" sz="18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emergency,</a:t>
            </a:r>
            <a:r>
              <a:rPr b="0" lang="en-US" sz="1800" spc="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with</a:t>
            </a:r>
            <a:r>
              <a:rPr b="0" lang="en-US" sz="1800" spc="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</a:t>
            </a:r>
            <a:r>
              <a:rPr b="0" lang="en-US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shared,</a:t>
            </a:r>
            <a:r>
              <a:rPr b="0" lang="en-US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live</a:t>
            </a:r>
            <a:r>
              <a:rPr b="0" lang="en-US" sz="18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picture</a:t>
            </a:r>
            <a:r>
              <a:rPr b="0" lang="en-US" sz="18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who has</a:t>
            </a:r>
            <a:r>
              <a:rPr b="0" lang="en-US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room.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520560" indent="-520560" algn="r">
              <a:lnSpc>
                <a:spcPct val="100000"/>
              </a:lnSpc>
              <a:spcBef>
                <a:spcPts val="879"/>
              </a:spcBef>
              <a:buClr>
                <a:srgbClr val="000000"/>
              </a:buClr>
              <a:buSzPct val="111000"/>
              <a:buFont typeface="OpenSymbol"/>
              <a:buAutoNum type="arabicPeriod" startAt="3"/>
              <a:tabLst>
                <a:tab algn="l" pos="52056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Patients</a:t>
            </a:r>
            <a:r>
              <a:rPr b="0" lang="en-US" sz="1800" spc="26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don't</a:t>
            </a:r>
            <a:r>
              <a:rPr b="0" lang="en-US" sz="1800" spc="27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need</a:t>
            </a:r>
            <a:r>
              <a:rPr b="0" lang="en-US" sz="1800" spc="26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another</a:t>
            </a:r>
            <a:r>
              <a:rPr b="0" lang="en-US" sz="1800" spc="28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hospital</a:t>
            </a:r>
            <a:r>
              <a:rPr b="0" lang="en-US" sz="1800" spc="27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app</a:t>
            </a:r>
            <a:r>
              <a:rPr b="0" lang="en-US" sz="1800" spc="26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they</a:t>
            </a:r>
            <a:r>
              <a:rPr b="0" lang="en-US" sz="1800" spc="26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need</a:t>
            </a:r>
            <a:r>
              <a:rPr b="0" lang="en-US" sz="1800" spc="26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one</a:t>
            </a:r>
            <a:r>
              <a:rPr b="0" lang="en-US" sz="1800" spc="25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place</a:t>
            </a:r>
            <a:r>
              <a:rPr b="0" lang="en-US" sz="1800" spc="25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to</a:t>
            </a:r>
            <a:r>
              <a:rPr b="0" lang="en-US" sz="1800" spc="26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see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1040"/>
              </a:spcBef>
              <a:tabLst>
                <a:tab algn="l" pos="817920"/>
                <a:tab algn="l" pos="1447920"/>
                <a:tab algn="l" pos="1812240"/>
                <a:tab algn="l" pos="2973600"/>
                <a:tab algn="l" pos="3604320"/>
                <a:tab algn="l" pos="4200480"/>
                <a:tab algn="l" pos="4523760"/>
                <a:tab algn="l" pos="5673240"/>
                <a:tab algn="l" pos="6759720"/>
                <a:tab algn="l" pos="7230600"/>
              </a:tabLst>
            </a:pP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where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help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is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available.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This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isn't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52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hardware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problem,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it's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52" strike="noStrike">
                <a:solidFill>
                  <a:srgbClr val="000000"/>
                </a:solidFill>
                <a:latin typeface="Arial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69800" algn="just">
              <a:lnSpc>
                <a:spcPct val="100000"/>
              </a:lnSpc>
              <a:spcBef>
                <a:spcPts val="1086"/>
              </a:spcBef>
              <a:tabLst>
                <a:tab algn="l" pos="817920"/>
                <a:tab algn="l" pos="1447920"/>
                <a:tab algn="l" pos="1812240"/>
                <a:tab algn="l" pos="2973600"/>
                <a:tab algn="l" pos="3604320"/>
                <a:tab algn="l" pos="4200480"/>
                <a:tab algn="l" pos="4523760"/>
                <a:tab algn="l" pos="5673240"/>
                <a:tab algn="l" pos="6759720"/>
                <a:tab algn="l" pos="7230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"connectivity"</a:t>
            </a:r>
            <a:r>
              <a:rPr b="0" lang="en-US" sz="1800" spc="-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problem.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69800" indent="-457200" algn="just">
              <a:lnSpc>
                <a:spcPts val="3240"/>
              </a:lnSpc>
              <a:spcBef>
                <a:spcPts val="99"/>
              </a:spcBef>
              <a:buClr>
                <a:srgbClr val="000000"/>
              </a:buClr>
              <a:buSzPct val="111000"/>
              <a:buFont typeface="OpenSymbol"/>
              <a:buAutoNum type="arabicPeriod" startAt="4"/>
              <a:tabLst>
                <a:tab algn="l" pos="469800"/>
                <a:tab algn="l" pos="5302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As</a:t>
            </a:r>
            <a:r>
              <a:rPr b="0" lang="en-US" sz="1800" spc="4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800" spc="58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result,</a:t>
            </a:r>
            <a:r>
              <a:rPr b="0" lang="en-US" sz="1800" spc="6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critical</a:t>
            </a:r>
            <a:r>
              <a:rPr b="0" lang="en-US" sz="1800" spc="58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minutes</a:t>
            </a:r>
            <a:r>
              <a:rPr b="0" lang="en-US" sz="1800" spc="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are</a:t>
            </a:r>
            <a:r>
              <a:rPr b="0" lang="en-US" sz="1800" spc="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lost</a:t>
            </a:r>
            <a:r>
              <a:rPr b="0" lang="en-US" sz="1800" spc="6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during</a:t>
            </a:r>
            <a:r>
              <a:rPr b="0" lang="en-US" sz="1800" spc="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transfers</a:t>
            </a:r>
            <a:r>
              <a:rPr b="0" lang="en-US" sz="1800" spc="58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800" spc="58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disasters</a:t>
            </a:r>
            <a:r>
              <a:rPr b="0" lang="en-US" sz="1800" spc="8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while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some</a:t>
            </a:r>
            <a:r>
              <a:rPr b="0" lang="en-US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hospitals</a:t>
            </a:r>
            <a:r>
              <a:rPr b="0" lang="en-US" sz="180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sit</a:t>
            </a:r>
            <a:r>
              <a:rPr b="0" lang="en-US" sz="18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overloaded and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others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nearby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have</a:t>
            </a:r>
            <a:r>
              <a:rPr b="0" lang="en-US" sz="18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empty</a:t>
            </a:r>
            <a:r>
              <a:rPr b="0" lang="en-US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beds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1" name="object 2"/>
          <p:cNvGrpSpPr/>
          <p:nvPr/>
        </p:nvGrpSpPr>
        <p:grpSpPr>
          <a:xfrm>
            <a:off x="0" y="6026040"/>
            <a:ext cx="9143640" cy="831600"/>
            <a:chOff x="0" y="6026040"/>
            <a:chExt cx="9143640" cy="831600"/>
          </a:xfrm>
        </p:grpSpPr>
        <p:pic>
          <p:nvPicPr>
            <p:cNvPr id="82" name="object 3" descr=""/>
            <p:cNvPicPr/>
            <p:nvPr/>
          </p:nvPicPr>
          <p:blipFill>
            <a:blip r:embed="rId3"/>
            <a:stretch/>
          </p:blipFill>
          <p:spPr>
            <a:xfrm>
              <a:off x="6198120" y="6026040"/>
              <a:ext cx="2945520" cy="83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3" name="object 4" descr=""/>
            <p:cNvPicPr/>
            <p:nvPr/>
          </p:nvPicPr>
          <p:blipFill>
            <a:blip r:embed="rId4"/>
            <a:stretch/>
          </p:blipFill>
          <p:spPr>
            <a:xfrm>
              <a:off x="6268320" y="6073200"/>
              <a:ext cx="2875320" cy="77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4" name="object 5"/>
            <p:cNvSpPr/>
            <p:nvPr/>
          </p:nvSpPr>
          <p:spPr>
            <a:xfrm>
              <a:off x="0" y="6073200"/>
              <a:ext cx="9143640" cy="7725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772560"/>
                <a:gd name="textAreaBottom" fmla="*/ 772920 h 772560"/>
              </a:gdLst>
              <a:ahLst/>
              <a:rect l="textAreaLeft" t="textAreaTop" r="textAreaRight" b="textAreaBottom"/>
              <a:pathLst>
                <a:path w="9144000" h="772795">
                  <a:moveTo>
                    <a:pt x="6268212" y="772668"/>
                  </a:moveTo>
                  <a:lnTo>
                    <a:pt x="9144000" y="772668"/>
                  </a:lnTo>
                  <a:lnTo>
                    <a:pt x="9144000" y="0"/>
                  </a:lnTo>
                  <a:lnTo>
                    <a:pt x="6268212" y="0"/>
                  </a:lnTo>
                  <a:lnTo>
                    <a:pt x="6268212" y="772668"/>
                  </a:lnTo>
                  <a:close/>
                </a:path>
                <a:path w="9144000" h="77279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144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85" name="object 6" descr=""/>
            <p:cNvPicPr/>
            <p:nvPr/>
          </p:nvPicPr>
          <p:blipFill>
            <a:blip r:embed="rId5"/>
            <a:stretch/>
          </p:blipFill>
          <p:spPr>
            <a:xfrm>
              <a:off x="0" y="6026040"/>
              <a:ext cx="2918160" cy="83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6" name="object 7" descr=""/>
            <p:cNvPicPr/>
            <p:nvPr/>
          </p:nvPicPr>
          <p:blipFill>
            <a:blip r:embed="rId6"/>
            <a:stretch/>
          </p:blipFill>
          <p:spPr>
            <a:xfrm>
              <a:off x="0" y="6073200"/>
              <a:ext cx="2852640" cy="77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7" name="object 8"/>
            <p:cNvSpPr/>
            <p:nvPr/>
          </p:nvSpPr>
          <p:spPr>
            <a:xfrm>
              <a:off x="0" y="6073200"/>
              <a:ext cx="2852640" cy="772560"/>
            </a:xfrm>
            <a:custGeom>
              <a:avLst/>
              <a:gdLst>
                <a:gd name="textAreaLeft" fmla="*/ 0 w 2852640"/>
                <a:gd name="textAreaRight" fmla="*/ 2853000 w 2852640"/>
                <a:gd name="textAreaTop" fmla="*/ 0 h 772560"/>
                <a:gd name="textAreaBottom" fmla="*/ 772920 h 772560"/>
              </a:gdLst>
              <a:ahLst/>
              <a:rect l="textAreaLeft" t="textAreaTop" r="textAreaRight" b="textAreaBottom"/>
              <a:pathLst>
                <a:path w="2853055" h="772795">
                  <a:moveTo>
                    <a:pt x="0" y="772668"/>
                  </a:moveTo>
                  <a:lnTo>
                    <a:pt x="2852928" y="772668"/>
                  </a:lnTo>
                  <a:lnTo>
                    <a:pt x="2852928" y="0"/>
                  </a:lnTo>
                  <a:lnTo>
                    <a:pt x="0" y="0"/>
                  </a:lnTo>
                </a:path>
              </a:pathLst>
            </a:custGeom>
            <a:noFill/>
            <a:ln w="9144">
              <a:solidFill>
                <a:srgbClr val="97b85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8" name="PlaceHolder 2"/>
          <p:cNvSpPr>
            <a:spLocks noGrp="1"/>
          </p:cNvSpPr>
          <p:nvPr>
            <p:ph type="sldNum" idx="17"/>
          </p:nvPr>
        </p:nvSpPr>
        <p:spPr>
          <a:xfrm>
            <a:off x="7386120" y="6328440"/>
            <a:ext cx="75528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>
              <a:lnSpc>
                <a:spcPts val="2064"/>
              </a:lnSpc>
              <a:buNone/>
              <a:defRPr b="0" lang="en-US" sz="1800" spc="-1" strike="noStrike">
                <a:solidFill>
                  <a:schemeClr val="lt1"/>
                </a:solidFill>
                <a:latin typeface="Times New Roman"/>
              </a:defRPr>
            </a:lvl1pPr>
          </a:lstStyle>
          <a:p>
            <a:pPr marL="12600" indent="0">
              <a:lnSpc>
                <a:spcPts val="2064"/>
              </a:lnSpc>
              <a:buNone/>
            </a:pPr>
            <a:r>
              <a:rPr b="0" lang="en-US" sz="1800" spc="-1" strike="noStrike">
                <a:solidFill>
                  <a:schemeClr val="lt1"/>
                </a:solidFill>
                <a:latin typeface="Times New Roman"/>
              </a:rPr>
              <a:t>Page</a:t>
            </a:r>
            <a:r>
              <a:rPr b="0" lang="en-US" sz="1800" spc="-35" strike="noStrike">
                <a:solidFill>
                  <a:schemeClr val="lt1"/>
                </a:solidFill>
                <a:latin typeface="Times New Roman"/>
              </a:rPr>
              <a:t> </a:t>
            </a:r>
            <a:r>
              <a:rPr b="0" lang="en-US" sz="1800" spc="-52" strike="noStrike">
                <a:solidFill>
                  <a:schemeClr val="lt1"/>
                </a:solidFill>
                <a:latin typeface="Times New Roman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85080" y="6172200"/>
            <a:ext cx="1829520" cy="54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MedMesh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object 2"/>
          <p:cNvGrpSpPr/>
          <p:nvPr/>
        </p:nvGrpSpPr>
        <p:grpSpPr>
          <a:xfrm>
            <a:off x="0" y="0"/>
            <a:ext cx="9143640" cy="864360"/>
            <a:chOff x="0" y="0"/>
            <a:chExt cx="9143640" cy="864360"/>
          </a:xfrm>
        </p:grpSpPr>
        <p:pic>
          <p:nvPicPr>
            <p:cNvPr id="91" name="object 3" descr=""/>
            <p:cNvPicPr/>
            <p:nvPr/>
          </p:nvPicPr>
          <p:blipFill>
            <a:blip r:embed="rId1"/>
            <a:stretch/>
          </p:blipFill>
          <p:spPr>
            <a:xfrm>
              <a:off x="0" y="792360"/>
              <a:ext cx="9143640" cy="72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2" name="object 4" descr="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9143640" cy="792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3" name="object 5"/>
            <p:cNvSpPr/>
            <p:nvPr/>
          </p:nvSpPr>
          <p:spPr>
            <a:xfrm>
              <a:off x="0" y="0"/>
              <a:ext cx="9143640" cy="792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792000"/>
                <a:gd name="textAreaBottom" fmla="*/ 792360 h 792000"/>
              </a:gdLst>
              <a:ahLst/>
              <a:rect l="textAreaLeft" t="textAreaTop" r="textAreaRight" b="textAreaBottom"/>
              <a:pathLst>
                <a:path w="9144000" h="792480">
                  <a:moveTo>
                    <a:pt x="0" y="792479"/>
                  </a:moveTo>
                  <a:lnTo>
                    <a:pt x="9144000" y="79247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92479"/>
                  </a:lnTo>
                  <a:close/>
                </a:path>
              </a:pathLst>
            </a:custGeom>
            <a:noFill/>
            <a:ln w="9144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19600" y="126000"/>
            <a:ext cx="870444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317484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3200" spc="-12" strike="noStrike">
                <a:solidFill>
                  <a:schemeClr val="lt1"/>
                </a:solidFill>
                <a:latin typeface="Times New Roman"/>
              </a:rPr>
              <a:t>OBJECTIVE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object 15"/>
          <p:cNvSpPr/>
          <p:nvPr/>
        </p:nvSpPr>
        <p:spPr>
          <a:xfrm>
            <a:off x="301680" y="1656360"/>
            <a:ext cx="8397360" cy="340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00440" indent="-9720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SzPct val="95000"/>
              <a:buFont typeface="Symbol" charset="2"/>
              <a:buChar char=""/>
              <a:tabLst>
                <a:tab algn="l" pos="10044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To reduce</a:t>
            </a:r>
            <a:r>
              <a:rPr b="0" lang="en-US" sz="20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patient-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placement</a:t>
            </a:r>
            <a:r>
              <a:rPr b="0" lang="en-US" sz="20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delays</a:t>
            </a:r>
            <a:r>
              <a:rPr b="0" lang="en-US" sz="20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giving</a:t>
            </a:r>
            <a:r>
              <a:rPr b="0" lang="en-US" sz="2000" spc="4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ambulances</a:t>
            </a:r>
            <a:r>
              <a:rPr b="0" lang="en-US" sz="20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hospitals</a:t>
            </a:r>
            <a:r>
              <a:rPr b="0" lang="en-US" sz="2000" spc="-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</a:t>
            </a:r>
            <a:r>
              <a:rPr b="0" lang="en-US" sz="20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shared,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tabLst>
                <a:tab algn="l" pos="10044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real-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time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view</a:t>
            </a:r>
            <a:r>
              <a:rPr b="0" lang="en-US" sz="20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bed</a:t>
            </a:r>
            <a:r>
              <a:rPr b="0" lang="en-US" sz="2000" spc="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ICU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capacity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10044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00440" indent="-97200">
              <a:lnSpc>
                <a:spcPct val="100000"/>
              </a:lnSpc>
              <a:buClr>
                <a:srgbClr val="000000"/>
              </a:buClr>
              <a:buSzPct val="95000"/>
              <a:buFont typeface="Symbol" charset="2"/>
              <a:buChar char=""/>
              <a:tabLst>
                <a:tab algn="l" pos="10044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To</a:t>
            </a:r>
            <a:r>
              <a:rPr b="0" lang="en-US" sz="2000" spc="284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connect</a:t>
            </a:r>
            <a:r>
              <a:rPr b="0" lang="en-US" sz="2000" spc="273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existing</a:t>
            </a:r>
            <a:r>
              <a:rPr b="0" lang="en-US" sz="2000" spc="27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hospital</a:t>
            </a:r>
            <a:r>
              <a:rPr b="0" lang="en-US" sz="2000" spc="25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management</a:t>
            </a:r>
            <a:r>
              <a:rPr b="0" lang="en-US" sz="2000" spc="284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systems</a:t>
            </a:r>
            <a:r>
              <a:rPr b="0" lang="en-US" sz="2000" spc="293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into</a:t>
            </a:r>
            <a:r>
              <a:rPr b="0" lang="en-US" sz="2000" spc="273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one</a:t>
            </a:r>
            <a:r>
              <a:rPr b="0" lang="en-US" sz="2000" spc="27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live</a:t>
            </a:r>
            <a:r>
              <a:rPr b="0" lang="en-US" sz="2000" spc="293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capacity</a:t>
            </a:r>
            <a:r>
              <a:rPr b="0" lang="en-US" sz="2000" spc="293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feed,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tabLst>
                <a:tab algn="l" pos="10044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without</a:t>
            </a:r>
            <a:r>
              <a:rPr b="0" lang="en-US" sz="2000" spc="-4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replacing</a:t>
            </a:r>
            <a:r>
              <a:rPr b="0" lang="en-US" sz="2000" spc="-4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what</a:t>
            </a:r>
            <a:r>
              <a:rPr b="0" lang="en-US" sz="20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hospitals</a:t>
            </a:r>
            <a:r>
              <a:rPr b="0" lang="en-US" sz="2000" spc="-5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already</a:t>
            </a:r>
            <a:r>
              <a:rPr b="0" lang="en-US" sz="20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Times New Roman"/>
              </a:rPr>
              <a:t>use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05"/>
              </a:spcBef>
              <a:tabLst>
                <a:tab algn="l" pos="10044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2600" indent="-9360">
              <a:lnSpc>
                <a:spcPct val="100000"/>
              </a:lnSpc>
              <a:buClr>
                <a:srgbClr val="000000"/>
              </a:buClr>
              <a:buSzPct val="95000"/>
              <a:buFont typeface="Symbol" charset="2"/>
              <a:buChar char=""/>
              <a:tabLst>
                <a:tab algn="l" pos="10044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To</a:t>
            </a:r>
            <a:r>
              <a:rPr b="0" lang="en-US" sz="2000" spc="338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give</a:t>
            </a:r>
            <a:r>
              <a:rPr b="0" lang="en-US" sz="2000" spc="344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government</a:t>
            </a:r>
            <a:r>
              <a:rPr b="0" lang="en-US" sz="2000" spc="344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health</a:t>
            </a:r>
            <a:r>
              <a:rPr b="0" lang="en-US" sz="2000" spc="338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agencies</a:t>
            </a:r>
            <a:r>
              <a:rPr b="0" lang="en-US" sz="2000" spc="344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</a:t>
            </a:r>
            <a:r>
              <a:rPr b="0" lang="en-US" sz="2000" spc="338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district-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level</a:t>
            </a:r>
            <a:r>
              <a:rPr b="0" lang="en-US" sz="2000" spc="333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dashboard</a:t>
            </a:r>
            <a:r>
              <a:rPr b="0" lang="en-US" sz="2000" spc="324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for</a:t>
            </a:r>
            <a:r>
              <a:rPr b="0" lang="en-US" sz="2000" spc="338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occupancy,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ICU</a:t>
            </a:r>
            <a:r>
              <a:rPr b="0" lang="en-US" sz="2000" spc="4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load,</a:t>
            </a:r>
            <a:r>
              <a:rPr b="0" lang="en-US" sz="2000" spc="-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and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emergency-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department</a:t>
            </a:r>
            <a:r>
              <a:rPr b="0" lang="en-US" sz="20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congestion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  <a:tabLst>
                <a:tab algn="l" pos="10044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2600" indent="-9360">
              <a:lnSpc>
                <a:spcPct val="100000"/>
              </a:lnSpc>
              <a:buClr>
                <a:srgbClr val="000000"/>
              </a:buClr>
              <a:buSzPct val="95000"/>
              <a:buFont typeface="Times New Roman"/>
              <a:buChar char="•"/>
              <a:tabLst>
                <a:tab algn="l" pos="10044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To</a:t>
            </a:r>
            <a:r>
              <a:rPr b="0" lang="en-US" sz="2000" spc="20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cut</a:t>
            </a:r>
            <a:r>
              <a:rPr b="0" lang="en-US" sz="2000" spc="180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dispatcher</a:t>
            </a:r>
            <a:r>
              <a:rPr b="0" lang="en-US" sz="2000" spc="194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decision</a:t>
            </a:r>
            <a:r>
              <a:rPr b="0" lang="en-US" sz="2000" spc="18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time</a:t>
            </a:r>
            <a:r>
              <a:rPr b="0" lang="en-US" sz="2000" spc="20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from</a:t>
            </a:r>
            <a:r>
              <a:rPr b="0" lang="en-US" sz="2000" spc="18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minutes</a:t>
            </a:r>
            <a:r>
              <a:rPr b="0" lang="en-US" sz="2000" spc="188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of</a:t>
            </a:r>
            <a:r>
              <a:rPr b="0" lang="en-US" sz="2000" spc="188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phone</a:t>
            </a:r>
            <a:r>
              <a:rPr b="0" lang="en-US" sz="2000" spc="194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calls</a:t>
            </a:r>
            <a:r>
              <a:rPr b="0" lang="en-US" sz="2000" spc="18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to</a:t>
            </a:r>
            <a:r>
              <a:rPr b="0" lang="en-US" sz="2000" spc="18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seconds</a:t>
            </a:r>
            <a:r>
              <a:rPr b="0" lang="en-US" sz="2000" spc="194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of</a:t>
            </a:r>
            <a:r>
              <a:rPr b="0" lang="en-US" sz="2000" spc="194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Times New Roman"/>
              </a:rPr>
              <a:t>live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lookup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6" name="object 7"/>
          <p:cNvGrpSpPr/>
          <p:nvPr/>
        </p:nvGrpSpPr>
        <p:grpSpPr>
          <a:xfrm>
            <a:off x="0" y="6026040"/>
            <a:ext cx="9144000" cy="831600"/>
            <a:chOff x="0" y="6026040"/>
            <a:chExt cx="9144000" cy="831600"/>
          </a:xfrm>
        </p:grpSpPr>
        <p:pic>
          <p:nvPicPr>
            <p:cNvPr id="97" name="object 8" descr=""/>
            <p:cNvPicPr/>
            <p:nvPr/>
          </p:nvPicPr>
          <p:blipFill>
            <a:blip r:embed="rId3"/>
            <a:stretch/>
          </p:blipFill>
          <p:spPr>
            <a:xfrm>
              <a:off x="2910240" y="6120720"/>
              <a:ext cx="3332520" cy="638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8" name="object 9" descr=""/>
            <p:cNvPicPr/>
            <p:nvPr/>
          </p:nvPicPr>
          <p:blipFill>
            <a:blip r:embed="rId4"/>
            <a:stretch/>
          </p:blipFill>
          <p:spPr>
            <a:xfrm>
              <a:off x="6198120" y="6026040"/>
              <a:ext cx="2945520" cy="83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9" name="object 10" descr=""/>
            <p:cNvPicPr/>
            <p:nvPr/>
          </p:nvPicPr>
          <p:blipFill>
            <a:blip r:embed="rId5"/>
            <a:stretch/>
          </p:blipFill>
          <p:spPr>
            <a:xfrm>
              <a:off x="6268320" y="6073200"/>
              <a:ext cx="2875320" cy="77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0" name="object 11"/>
            <p:cNvSpPr/>
            <p:nvPr/>
          </p:nvSpPr>
          <p:spPr>
            <a:xfrm>
              <a:off x="6268320" y="6073200"/>
              <a:ext cx="2875680" cy="772560"/>
            </a:xfrm>
            <a:custGeom>
              <a:avLst/>
              <a:gdLst>
                <a:gd name="textAreaLeft" fmla="*/ 0 w 2875680"/>
                <a:gd name="textAreaRight" fmla="*/ 2876040 w 2875680"/>
                <a:gd name="textAreaTop" fmla="*/ 0 h 772560"/>
                <a:gd name="textAreaBottom" fmla="*/ 772920 h 772560"/>
              </a:gdLst>
              <a:ahLst/>
              <a:rect l="textAreaLeft" t="textAreaTop" r="textAreaRight" b="textAreaBottom"/>
              <a:pathLst>
                <a:path w="2875915" h="772795">
                  <a:moveTo>
                    <a:pt x="0" y="772668"/>
                  </a:moveTo>
                  <a:lnTo>
                    <a:pt x="2875788" y="772668"/>
                  </a:lnTo>
                  <a:lnTo>
                    <a:pt x="2875788" y="0"/>
                  </a:lnTo>
                  <a:lnTo>
                    <a:pt x="0" y="0"/>
                  </a:lnTo>
                  <a:lnTo>
                    <a:pt x="0" y="772668"/>
                  </a:lnTo>
                  <a:close/>
                </a:path>
              </a:pathLst>
            </a:custGeom>
            <a:noFill/>
            <a:ln w="9144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01" name="object 12" descr=""/>
            <p:cNvPicPr/>
            <p:nvPr/>
          </p:nvPicPr>
          <p:blipFill>
            <a:blip r:embed="rId6"/>
            <a:stretch/>
          </p:blipFill>
          <p:spPr>
            <a:xfrm>
              <a:off x="0" y="6026040"/>
              <a:ext cx="2918160" cy="83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2" name="object 13" descr=""/>
            <p:cNvPicPr/>
            <p:nvPr/>
          </p:nvPicPr>
          <p:blipFill>
            <a:blip r:embed="rId7"/>
            <a:stretch/>
          </p:blipFill>
          <p:spPr>
            <a:xfrm>
              <a:off x="0" y="6073200"/>
              <a:ext cx="2852640" cy="77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3" name="object 14"/>
            <p:cNvSpPr/>
            <p:nvPr/>
          </p:nvSpPr>
          <p:spPr>
            <a:xfrm>
              <a:off x="0" y="6073200"/>
              <a:ext cx="2852640" cy="772560"/>
            </a:xfrm>
            <a:custGeom>
              <a:avLst/>
              <a:gdLst>
                <a:gd name="textAreaLeft" fmla="*/ 0 w 2852640"/>
                <a:gd name="textAreaRight" fmla="*/ 2853000 w 2852640"/>
                <a:gd name="textAreaTop" fmla="*/ 0 h 772560"/>
                <a:gd name="textAreaBottom" fmla="*/ 772920 h 772560"/>
              </a:gdLst>
              <a:ahLst/>
              <a:rect l="textAreaLeft" t="textAreaTop" r="textAreaRight" b="textAreaBottom"/>
              <a:pathLst>
                <a:path w="2853055" h="772795">
                  <a:moveTo>
                    <a:pt x="0" y="772668"/>
                  </a:moveTo>
                  <a:lnTo>
                    <a:pt x="2852928" y="772668"/>
                  </a:lnTo>
                  <a:lnTo>
                    <a:pt x="2852928" y="0"/>
                  </a:lnTo>
                  <a:lnTo>
                    <a:pt x="0" y="0"/>
                  </a:lnTo>
                </a:path>
              </a:pathLst>
            </a:custGeom>
            <a:noFill/>
            <a:ln w="9144">
              <a:solidFill>
                <a:srgbClr val="97b85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4" name="PlaceHolder 2"/>
          <p:cNvSpPr>
            <a:spLocks noGrp="1"/>
          </p:cNvSpPr>
          <p:nvPr>
            <p:ph type="sldNum" idx="18"/>
          </p:nvPr>
        </p:nvSpPr>
        <p:spPr>
          <a:xfrm>
            <a:off x="7386120" y="6328440"/>
            <a:ext cx="75528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>
              <a:lnSpc>
                <a:spcPts val="2064"/>
              </a:lnSpc>
              <a:buNone/>
              <a:defRPr b="0" lang="en-US" sz="1800" spc="-1" strike="noStrike">
                <a:solidFill>
                  <a:schemeClr val="lt1"/>
                </a:solidFill>
                <a:latin typeface="Times New Roman"/>
              </a:defRPr>
            </a:lvl1pPr>
          </a:lstStyle>
          <a:p>
            <a:pPr marL="12600" indent="0">
              <a:lnSpc>
                <a:spcPts val="2064"/>
              </a:lnSpc>
              <a:buNone/>
            </a:pPr>
            <a:r>
              <a:rPr b="0" lang="en-US" sz="1800" spc="-1" strike="noStrike">
                <a:solidFill>
                  <a:schemeClr val="lt1"/>
                </a:solidFill>
                <a:latin typeface="Times New Roman"/>
              </a:rPr>
              <a:t>Page</a:t>
            </a:r>
            <a:r>
              <a:rPr b="0" lang="en-US" sz="1800" spc="-35" strike="noStrike">
                <a:solidFill>
                  <a:schemeClr val="lt1"/>
                </a:solidFill>
                <a:latin typeface="Times New Roman"/>
              </a:rPr>
              <a:t> </a:t>
            </a:r>
            <a:r>
              <a:rPr b="0" lang="en-US" sz="1800" spc="-52" strike="noStrike">
                <a:solidFill>
                  <a:schemeClr val="lt1"/>
                </a:solidFill>
                <a:latin typeface="Times New Roman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685080" y="6172200"/>
            <a:ext cx="1829520" cy="54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MedMesh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object 9"/>
          <p:cNvGrpSpPr/>
          <p:nvPr/>
        </p:nvGrpSpPr>
        <p:grpSpPr>
          <a:xfrm>
            <a:off x="0" y="0"/>
            <a:ext cx="9143640" cy="843120"/>
            <a:chOff x="0" y="0"/>
            <a:chExt cx="9143640" cy="843120"/>
          </a:xfrm>
        </p:grpSpPr>
        <p:pic>
          <p:nvPicPr>
            <p:cNvPr id="107" name="object 10" descr=""/>
            <p:cNvPicPr/>
            <p:nvPr/>
          </p:nvPicPr>
          <p:blipFill>
            <a:blip r:embed="rId1"/>
            <a:stretch/>
          </p:blipFill>
          <p:spPr>
            <a:xfrm>
              <a:off x="0" y="771120"/>
              <a:ext cx="9143640" cy="72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8" name="object 11" descr="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9143640" cy="770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9" name="object 12"/>
            <p:cNvSpPr/>
            <p:nvPr/>
          </p:nvSpPr>
          <p:spPr>
            <a:xfrm>
              <a:off x="0" y="0"/>
              <a:ext cx="9143640" cy="771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771120"/>
                <a:gd name="textAreaBottom" fmla="*/ 771480 h 771120"/>
              </a:gdLst>
              <a:ahLst/>
              <a:rect l="textAreaLeft" t="textAreaTop" r="textAreaRight" b="textAreaBottom"/>
              <a:pathLst>
                <a:path w="9144000" h="771525">
                  <a:moveTo>
                    <a:pt x="0" y="771144"/>
                  </a:moveTo>
                  <a:lnTo>
                    <a:pt x="9144000" y="771144"/>
                  </a:lnTo>
                  <a:lnTo>
                    <a:pt x="9144000" y="0"/>
                  </a:lnTo>
                  <a:lnTo>
                    <a:pt x="0" y="0"/>
                  </a:lnTo>
                </a:path>
              </a:pathLst>
            </a:custGeom>
            <a:noFill/>
            <a:ln w="9143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219600" y="126000"/>
            <a:ext cx="870444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285552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3200" spc="-1" strike="noStrike">
                <a:solidFill>
                  <a:schemeClr val="lt1"/>
                </a:solidFill>
                <a:latin typeface="Times New Roman"/>
              </a:rPr>
              <a:t>Existing</a:t>
            </a:r>
            <a:r>
              <a:rPr b="1" lang="en-US" sz="3200" spc="-15" strike="noStrike">
                <a:solidFill>
                  <a:schemeClr val="lt1"/>
                </a:solidFill>
                <a:latin typeface="Times New Roman"/>
              </a:rPr>
              <a:t> </a:t>
            </a:r>
            <a:r>
              <a:rPr b="1" lang="en-US" sz="3200" spc="-12" strike="noStrike">
                <a:solidFill>
                  <a:schemeClr val="lt1"/>
                </a:solidFill>
                <a:latin typeface="Times New Roman"/>
              </a:rPr>
              <a:t>Solution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1" name="object 14" descr=""/>
          <p:cNvPicPr/>
          <p:nvPr/>
        </p:nvPicPr>
        <p:blipFill>
          <a:blip r:embed="rId3"/>
          <a:stretch/>
        </p:blipFill>
        <p:spPr>
          <a:xfrm>
            <a:off x="198000" y="1173600"/>
            <a:ext cx="91080" cy="91080"/>
          </a:xfrm>
          <a:prstGeom prst="rect">
            <a:avLst/>
          </a:prstGeom>
          <a:ln w="0">
            <a:noFill/>
          </a:ln>
        </p:spPr>
      </p:pic>
      <p:sp>
        <p:nvSpPr>
          <p:cNvPr id="112" name="object 15"/>
          <p:cNvSpPr/>
          <p:nvPr/>
        </p:nvSpPr>
        <p:spPr>
          <a:xfrm>
            <a:off x="353520" y="964080"/>
            <a:ext cx="2736360" cy="82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8160" bIns="0" anchor="t">
            <a:spAutoFit/>
          </a:bodyPr>
          <a:p>
            <a:pPr marL="12600">
              <a:lnSpc>
                <a:spcPct val="100000"/>
              </a:lnSpc>
              <a:spcBef>
                <a:spcPts val="300"/>
              </a:spcBef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Hospital</a:t>
            </a:r>
            <a:r>
              <a:rPr b="1" lang="en-US" sz="1400" spc="-41" strike="noStrike">
                <a:solidFill>
                  <a:srgbClr val="1a1a1a"/>
                </a:solidFill>
                <a:latin typeface="Calibri"/>
              </a:rPr>
              <a:t> </a:t>
            </a:r>
            <a:r>
              <a:rPr b="1" lang="en-US" sz="1400" spc="-12" strike="noStrike">
                <a:solidFill>
                  <a:srgbClr val="1a1a1a"/>
                </a:solidFill>
                <a:latin typeface="Calibri"/>
              </a:rPr>
              <a:t>platforms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9000"/>
              </a:lnSpc>
              <a:spcBef>
                <a:spcPts val="34"/>
              </a:spcBef>
            </a:pPr>
            <a:r>
              <a:rPr b="0" lang="en-US" sz="1150" spc="-12" strike="noStrike">
                <a:solidFill>
                  <a:srgbClr val="5a5a5a"/>
                </a:solidFill>
                <a:latin typeface="Calibri"/>
              </a:rPr>
              <a:t>TeleTracking,</a:t>
            </a:r>
            <a:r>
              <a:rPr b="0" lang="en-US" sz="1150" spc="-32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Oracle</a:t>
            </a:r>
            <a:r>
              <a:rPr b="0" lang="en-US" sz="1150" spc="-15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Health, GE</a:t>
            </a:r>
            <a:r>
              <a:rPr b="0" lang="en-US" sz="1150" spc="-15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Healthcare</a:t>
            </a:r>
            <a:r>
              <a:rPr b="0" lang="en-US" sz="1150" spc="9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52" strike="noStrike">
                <a:solidFill>
                  <a:srgbClr val="5a5a5a"/>
                </a:solidFill>
                <a:latin typeface="Calibri"/>
              </a:rPr>
              <a:t>—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see</a:t>
            </a:r>
            <a:r>
              <a:rPr b="0" lang="en-US" sz="1150" spc="-32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inside</a:t>
            </a:r>
            <a:r>
              <a:rPr b="0" lang="en-US" sz="1150" spc="-26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one</a:t>
            </a:r>
            <a:r>
              <a:rPr b="0" lang="en-US" sz="1150" spc="-15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hospital</a:t>
            </a:r>
            <a:r>
              <a:rPr b="0" lang="en-US" sz="1150" spc="-35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or</a:t>
            </a:r>
            <a:r>
              <a:rPr b="0" lang="en-US" sz="1150" spc="-15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health</a:t>
            </a:r>
            <a:r>
              <a:rPr b="0" lang="en-US" sz="1150" spc="-35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system</a:t>
            </a:r>
            <a:r>
              <a:rPr b="0" lang="en-US" sz="1150" spc="-32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21" strike="noStrike">
                <a:solidFill>
                  <a:srgbClr val="5a5a5a"/>
                </a:solidFill>
                <a:latin typeface="Calibri"/>
              </a:rPr>
              <a:t>only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object 16" descr=""/>
          <p:cNvPicPr/>
          <p:nvPr/>
        </p:nvPicPr>
        <p:blipFill>
          <a:blip r:embed="rId4"/>
          <a:stretch/>
        </p:blipFill>
        <p:spPr>
          <a:xfrm>
            <a:off x="198000" y="2133720"/>
            <a:ext cx="91080" cy="91080"/>
          </a:xfrm>
          <a:prstGeom prst="rect">
            <a:avLst/>
          </a:prstGeom>
          <a:ln w="0">
            <a:noFill/>
          </a:ln>
        </p:spPr>
      </p:pic>
      <p:grpSp>
        <p:nvGrpSpPr>
          <p:cNvPr id="114" name="object 24"/>
          <p:cNvGrpSpPr/>
          <p:nvPr/>
        </p:nvGrpSpPr>
        <p:grpSpPr>
          <a:xfrm>
            <a:off x="4248720" y="1267920"/>
            <a:ext cx="1814760" cy="991800"/>
            <a:chOff x="4248720" y="1267920"/>
            <a:chExt cx="1814760" cy="991800"/>
          </a:xfrm>
        </p:grpSpPr>
        <p:pic>
          <p:nvPicPr>
            <p:cNvPr id="115" name="object 25" descr=""/>
            <p:cNvPicPr/>
            <p:nvPr/>
          </p:nvPicPr>
          <p:blipFill>
            <a:blip r:embed="rId5"/>
            <a:stretch/>
          </p:blipFill>
          <p:spPr>
            <a:xfrm>
              <a:off x="4248720" y="1267920"/>
              <a:ext cx="1814760" cy="9918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16" name="object 26"/>
            <p:cNvSpPr/>
            <p:nvPr/>
          </p:nvSpPr>
          <p:spPr>
            <a:xfrm>
              <a:off x="4290120" y="1283040"/>
              <a:ext cx="1737000" cy="914040"/>
            </a:xfrm>
            <a:custGeom>
              <a:avLst/>
              <a:gdLst>
                <a:gd name="textAreaLeft" fmla="*/ 0 w 1737000"/>
                <a:gd name="textAreaRight" fmla="*/ 1737360 w 173700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1737360" h="914400">
                  <a:moveTo>
                    <a:pt x="1682495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859536"/>
                  </a:lnTo>
                  <a:lnTo>
                    <a:pt x="4304" y="880913"/>
                  </a:lnTo>
                  <a:lnTo>
                    <a:pt x="16049" y="898350"/>
                  </a:lnTo>
                  <a:lnTo>
                    <a:pt x="33486" y="910095"/>
                  </a:lnTo>
                  <a:lnTo>
                    <a:pt x="54863" y="914400"/>
                  </a:lnTo>
                  <a:lnTo>
                    <a:pt x="1682495" y="914400"/>
                  </a:lnTo>
                  <a:lnTo>
                    <a:pt x="1703873" y="910095"/>
                  </a:lnTo>
                  <a:lnTo>
                    <a:pt x="1721310" y="898350"/>
                  </a:lnTo>
                  <a:lnTo>
                    <a:pt x="1733055" y="880913"/>
                  </a:lnTo>
                  <a:lnTo>
                    <a:pt x="1737360" y="859536"/>
                  </a:lnTo>
                  <a:lnTo>
                    <a:pt x="1737360" y="54863"/>
                  </a:lnTo>
                  <a:lnTo>
                    <a:pt x="1733055" y="33486"/>
                  </a:lnTo>
                  <a:lnTo>
                    <a:pt x="1721310" y="16049"/>
                  </a:lnTo>
                  <a:lnTo>
                    <a:pt x="1703873" y="4304"/>
                  </a:lnTo>
                  <a:lnTo>
                    <a:pt x="1682495" y="0"/>
                  </a:lnTo>
                  <a:close/>
                </a:path>
              </a:pathLst>
            </a:custGeom>
            <a:solidFill>
              <a:srgbClr val="e8ef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7" name="object 27"/>
            <p:cNvSpPr/>
            <p:nvPr/>
          </p:nvSpPr>
          <p:spPr>
            <a:xfrm>
              <a:off x="4290120" y="1283040"/>
              <a:ext cx="1737000" cy="914040"/>
            </a:xfrm>
            <a:custGeom>
              <a:avLst/>
              <a:gdLst>
                <a:gd name="textAreaLeft" fmla="*/ 0 w 1737000"/>
                <a:gd name="textAreaRight" fmla="*/ 1737360 w 173700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1737360" h="91440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682495" y="0"/>
                  </a:lnTo>
                  <a:lnTo>
                    <a:pt x="1703873" y="4304"/>
                  </a:lnTo>
                  <a:lnTo>
                    <a:pt x="1721310" y="16049"/>
                  </a:lnTo>
                  <a:lnTo>
                    <a:pt x="1733055" y="33486"/>
                  </a:lnTo>
                  <a:lnTo>
                    <a:pt x="1737360" y="54863"/>
                  </a:lnTo>
                  <a:lnTo>
                    <a:pt x="1737360" y="859536"/>
                  </a:lnTo>
                  <a:lnTo>
                    <a:pt x="1733055" y="880913"/>
                  </a:lnTo>
                  <a:lnTo>
                    <a:pt x="1721310" y="898350"/>
                  </a:lnTo>
                  <a:lnTo>
                    <a:pt x="1703873" y="910095"/>
                  </a:lnTo>
                  <a:lnTo>
                    <a:pt x="1682495" y="914400"/>
                  </a:lnTo>
                  <a:lnTo>
                    <a:pt x="54863" y="914400"/>
                  </a:lnTo>
                  <a:lnTo>
                    <a:pt x="33486" y="910095"/>
                  </a:lnTo>
                  <a:lnTo>
                    <a:pt x="16049" y="898350"/>
                  </a:lnTo>
                  <a:lnTo>
                    <a:pt x="4304" y="880913"/>
                  </a:lnTo>
                  <a:lnTo>
                    <a:pt x="0" y="859536"/>
                  </a:lnTo>
                  <a:lnTo>
                    <a:pt x="0" y="54863"/>
                  </a:lnTo>
                  <a:close/>
                </a:path>
              </a:pathLst>
            </a:custGeom>
            <a:noFill/>
            <a:ln w="12192">
              <a:solidFill>
                <a:srgbClr val="b7c5d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8" name="object 28"/>
          <p:cNvSpPr/>
          <p:nvPr/>
        </p:nvSpPr>
        <p:spPr>
          <a:xfrm>
            <a:off x="4851720" y="1543320"/>
            <a:ext cx="6163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55080">
              <a:lnSpc>
                <a:spcPct val="100000"/>
              </a:lnSpc>
              <a:spcBef>
                <a:spcPts val="99"/>
              </a:spcBef>
            </a:pPr>
            <a:r>
              <a:rPr b="1" lang="en-US" sz="1150" spc="-12" strike="noStrike">
                <a:solidFill>
                  <a:srgbClr val="1a1a1a"/>
                </a:solidFill>
                <a:latin typeface="Calibri"/>
              </a:rPr>
              <a:t>Hospital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1" lang="en-US" sz="1150" spc="-12" strike="noStrike">
                <a:solidFill>
                  <a:srgbClr val="1a1a1a"/>
                </a:solidFill>
                <a:latin typeface="Calibri"/>
              </a:rPr>
              <a:t>Platforms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9" name="object 29"/>
          <p:cNvGrpSpPr/>
          <p:nvPr/>
        </p:nvGrpSpPr>
        <p:grpSpPr>
          <a:xfrm>
            <a:off x="6443280" y="1267920"/>
            <a:ext cx="1814760" cy="991800"/>
            <a:chOff x="6443280" y="1267920"/>
            <a:chExt cx="1814760" cy="991800"/>
          </a:xfrm>
        </p:grpSpPr>
        <p:pic>
          <p:nvPicPr>
            <p:cNvPr id="120" name="object 30" descr=""/>
            <p:cNvPicPr/>
            <p:nvPr/>
          </p:nvPicPr>
          <p:blipFill>
            <a:blip r:embed="rId6"/>
            <a:stretch/>
          </p:blipFill>
          <p:spPr>
            <a:xfrm>
              <a:off x="6443280" y="1267920"/>
              <a:ext cx="1814760" cy="9918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1" name="object 31"/>
            <p:cNvSpPr/>
            <p:nvPr/>
          </p:nvSpPr>
          <p:spPr>
            <a:xfrm>
              <a:off x="6484680" y="1283040"/>
              <a:ext cx="1737000" cy="914040"/>
            </a:xfrm>
            <a:custGeom>
              <a:avLst/>
              <a:gdLst>
                <a:gd name="textAreaLeft" fmla="*/ 0 w 1737000"/>
                <a:gd name="textAreaRight" fmla="*/ 1737360 w 173700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1737359" h="914400">
                  <a:moveTo>
                    <a:pt x="168249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859536"/>
                  </a:lnTo>
                  <a:lnTo>
                    <a:pt x="4304" y="880913"/>
                  </a:lnTo>
                  <a:lnTo>
                    <a:pt x="16049" y="898350"/>
                  </a:lnTo>
                  <a:lnTo>
                    <a:pt x="33486" y="910095"/>
                  </a:lnTo>
                  <a:lnTo>
                    <a:pt x="54863" y="914400"/>
                  </a:lnTo>
                  <a:lnTo>
                    <a:pt x="1682496" y="914400"/>
                  </a:lnTo>
                  <a:lnTo>
                    <a:pt x="1703873" y="910095"/>
                  </a:lnTo>
                  <a:lnTo>
                    <a:pt x="1721310" y="898350"/>
                  </a:lnTo>
                  <a:lnTo>
                    <a:pt x="1733055" y="880913"/>
                  </a:lnTo>
                  <a:lnTo>
                    <a:pt x="1737359" y="859536"/>
                  </a:lnTo>
                  <a:lnTo>
                    <a:pt x="1737359" y="54863"/>
                  </a:lnTo>
                  <a:lnTo>
                    <a:pt x="1733055" y="33486"/>
                  </a:lnTo>
                  <a:lnTo>
                    <a:pt x="1721310" y="16049"/>
                  </a:lnTo>
                  <a:lnTo>
                    <a:pt x="1703873" y="4304"/>
                  </a:lnTo>
                  <a:lnTo>
                    <a:pt x="1682496" y="0"/>
                  </a:lnTo>
                  <a:close/>
                </a:path>
              </a:pathLst>
            </a:custGeom>
            <a:solidFill>
              <a:srgbClr val="fcee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" name="object 32"/>
            <p:cNvSpPr/>
            <p:nvPr/>
          </p:nvSpPr>
          <p:spPr>
            <a:xfrm>
              <a:off x="6484680" y="1283040"/>
              <a:ext cx="1737000" cy="914040"/>
            </a:xfrm>
            <a:custGeom>
              <a:avLst/>
              <a:gdLst>
                <a:gd name="textAreaLeft" fmla="*/ 0 w 1737000"/>
                <a:gd name="textAreaRight" fmla="*/ 1737360 w 173700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1737359" h="91440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682496" y="0"/>
                  </a:lnTo>
                  <a:lnTo>
                    <a:pt x="1703873" y="4304"/>
                  </a:lnTo>
                  <a:lnTo>
                    <a:pt x="1721310" y="16049"/>
                  </a:lnTo>
                  <a:lnTo>
                    <a:pt x="1733055" y="33486"/>
                  </a:lnTo>
                  <a:lnTo>
                    <a:pt x="1737359" y="54863"/>
                  </a:lnTo>
                  <a:lnTo>
                    <a:pt x="1737359" y="859536"/>
                  </a:lnTo>
                  <a:lnTo>
                    <a:pt x="1733055" y="880913"/>
                  </a:lnTo>
                  <a:lnTo>
                    <a:pt x="1721310" y="898350"/>
                  </a:lnTo>
                  <a:lnTo>
                    <a:pt x="1703873" y="910095"/>
                  </a:lnTo>
                  <a:lnTo>
                    <a:pt x="1682496" y="914400"/>
                  </a:lnTo>
                  <a:lnTo>
                    <a:pt x="54863" y="914400"/>
                  </a:lnTo>
                  <a:lnTo>
                    <a:pt x="33486" y="910095"/>
                  </a:lnTo>
                  <a:lnTo>
                    <a:pt x="16049" y="898350"/>
                  </a:lnTo>
                  <a:lnTo>
                    <a:pt x="4304" y="880913"/>
                  </a:lnTo>
                  <a:lnTo>
                    <a:pt x="0" y="859536"/>
                  </a:lnTo>
                  <a:lnTo>
                    <a:pt x="0" y="54863"/>
                  </a:lnTo>
                  <a:close/>
                </a:path>
              </a:pathLst>
            </a:custGeom>
            <a:noFill/>
            <a:ln w="12192">
              <a:solidFill>
                <a:srgbClr val="b7c5d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3" name="object 33"/>
          <p:cNvSpPr/>
          <p:nvPr/>
        </p:nvSpPr>
        <p:spPr>
          <a:xfrm>
            <a:off x="6958080" y="1543320"/>
            <a:ext cx="792000" cy="53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1" lang="en-US" sz="1150" spc="-12" strike="noStrike">
                <a:solidFill>
                  <a:srgbClr val="1a1a1a"/>
                </a:solidFill>
                <a:latin typeface="Calibri"/>
              </a:rPr>
              <a:t>Government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150" spc="-12" strike="noStrike">
                <a:solidFill>
                  <a:srgbClr val="1a1a1a"/>
                </a:solidFill>
                <a:latin typeface="Calibri"/>
              </a:rPr>
              <a:t>Layers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object 17"/>
          <p:cNvSpPr/>
          <p:nvPr/>
        </p:nvSpPr>
        <p:spPr>
          <a:xfrm>
            <a:off x="414000" y="1911600"/>
            <a:ext cx="309024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8160" bIns="0" anchor="t">
            <a:spAutoFit/>
          </a:bodyPr>
          <a:p>
            <a:pPr marL="12600">
              <a:lnSpc>
                <a:spcPct val="100000"/>
              </a:lnSpc>
              <a:spcBef>
                <a:spcPts val="300"/>
              </a:spcBef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Government</a:t>
            </a:r>
            <a:r>
              <a:rPr b="1" lang="en-US" sz="1400" spc="-72" strike="noStrike">
                <a:solidFill>
                  <a:srgbClr val="1a1a1a"/>
                </a:solidFill>
                <a:latin typeface="Calibri"/>
              </a:rPr>
              <a:t> </a:t>
            </a:r>
            <a:r>
              <a:rPr b="1" lang="en-US" sz="1400" spc="-12" strike="noStrike">
                <a:solidFill>
                  <a:srgbClr val="1a1a1a"/>
                </a:solidFill>
                <a:latin typeface="Calibri"/>
              </a:rPr>
              <a:t>layers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9000"/>
              </a:lnSpc>
              <a:spcBef>
                <a:spcPts val="34"/>
              </a:spcBef>
            </a:pP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HBEDS,</a:t>
            </a:r>
            <a:r>
              <a:rPr b="0" lang="en-US" sz="1150" spc="-12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CDC</a:t>
            </a:r>
            <a:r>
              <a:rPr b="0" lang="en-US" sz="1150" spc="12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NHSN</a:t>
            </a:r>
            <a:r>
              <a:rPr b="0" lang="en-US" sz="1150" spc="-21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—</a:t>
            </a:r>
            <a:r>
              <a:rPr b="0" lang="en-US" sz="1150" spc="-12" strike="noStrike">
                <a:solidFill>
                  <a:srgbClr val="5a5a5a"/>
                </a:solidFill>
                <a:latin typeface="Calibri"/>
              </a:rPr>
              <a:t> real-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time and </a:t>
            </a:r>
            <a:r>
              <a:rPr b="0" lang="en-US" sz="1150" spc="-12" strike="noStrike">
                <a:solidFill>
                  <a:srgbClr val="5a5a5a"/>
                </a:solidFill>
                <a:latin typeface="Calibri"/>
              </a:rPr>
              <a:t>EHR-integrated,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but</a:t>
            </a:r>
            <a:r>
              <a:rPr b="0" lang="en-US" sz="1150" spc="4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access</a:t>
            </a:r>
            <a:r>
              <a:rPr b="0" lang="en-US" sz="1150" spc="-15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stays</a:t>
            </a:r>
            <a:r>
              <a:rPr b="0" lang="en-US" sz="1150" spc="9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2" strike="noStrike">
                <a:solidFill>
                  <a:srgbClr val="5a5a5a"/>
                </a:solidFill>
                <a:latin typeface="Calibri"/>
              </a:rPr>
              <a:t>officials-</a:t>
            </a:r>
            <a:r>
              <a:rPr b="0" lang="en-US" sz="1150" spc="-21" strike="noStrike">
                <a:solidFill>
                  <a:srgbClr val="5a5a5a"/>
                </a:solidFill>
                <a:latin typeface="Calibri"/>
              </a:rPr>
              <a:t>only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5" name="object 47"/>
          <p:cNvGrpSpPr/>
          <p:nvPr/>
        </p:nvGrpSpPr>
        <p:grpSpPr>
          <a:xfrm>
            <a:off x="5481000" y="1784880"/>
            <a:ext cx="553320" cy="450360"/>
            <a:chOff x="5481000" y="1784880"/>
            <a:chExt cx="553320" cy="450360"/>
          </a:xfrm>
        </p:grpSpPr>
        <p:sp>
          <p:nvSpPr>
            <p:cNvPr id="126" name="object 48"/>
            <p:cNvSpPr/>
            <p:nvPr/>
          </p:nvSpPr>
          <p:spPr>
            <a:xfrm>
              <a:off x="5481000" y="1784880"/>
              <a:ext cx="553320" cy="450360"/>
            </a:xfrm>
            <a:custGeom>
              <a:avLst/>
              <a:gdLst>
                <a:gd name="textAreaLeft" fmla="*/ 0 w 553320"/>
                <a:gd name="textAreaRight" fmla="*/ 553680 w 553320"/>
                <a:gd name="textAreaTop" fmla="*/ 0 h 450360"/>
                <a:gd name="textAreaBottom" fmla="*/ 450720 h 450360"/>
              </a:gdLst>
              <a:ahLst/>
              <a:rect l="textAreaLeft" t="textAreaTop" r="textAreaRight" b="textAreaBottom"/>
              <a:pathLst>
                <a:path w="553720" h="450850">
                  <a:moveTo>
                    <a:pt x="467995" y="0"/>
                  </a:moveTo>
                  <a:lnTo>
                    <a:pt x="276733" y="134238"/>
                  </a:lnTo>
                  <a:lnTo>
                    <a:pt x="85471" y="0"/>
                  </a:lnTo>
                  <a:lnTo>
                    <a:pt x="0" y="121665"/>
                  </a:lnTo>
                  <a:lnTo>
                    <a:pt x="147320" y="225170"/>
                  </a:lnTo>
                  <a:lnTo>
                    <a:pt x="0" y="328675"/>
                  </a:lnTo>
                  <a:lnTo>
                    <a:pt x="85471" y="450341"/>
                  </a:lnTo>
                  <a:lnTo>
                    <a:pt x="276733" y="316102"/>
                  </a:lnTo>
                  <a:lnTo>
                    <a:pt x="467995" y="450341"/>
                  </a:lnTo>
                  <a:lnTo>
                    <a:pt x="553465" y="328675"/>
                  </a:lnTo>
                  <a:lnTo>
                    <a:pt x="406146" y="225170"/>
                  </a:lnTo>
                  <a:lnTo>
                    <a:pt x="553465" y="121665"/>
                  </a:lnTo>
                  <a:lnTo>
                    <a:pt x="467995" y="0"/>
                  </a:lnTo>
                  <a:close/>
                </a:path>
              </a:pathLst>
            </a:custGeom>
            <a:solidFill>
              <a:srgbClr val="c050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" name="object 49"/>
            <p:cNvSpPr/>
            <p:nvPr/>
          </p:nvSpPr>
          <p:spPr>
            <a:xfrm>
              <a:off x="5481000" y="1784880"/>
              <a:ext cx="553320" cy="450360"/>
            </a:xfrm>
            <a:custGeom>
              <a:avLst/>
              <a:gdLst>
                <a:gd name="textAreaLeft" fmla="*/ 0 w 553320"/>
                <a:gd name="textAreaRight" fmla="*/ 553680 w 553320"/>
                <a:gd name="textAreaTop" fmla="*/ 0 h 450360"/>
                <a:gd name="textAreaBottom" fmla="*/ 450720 h 450360"/>
              </a:gdLst>
              <a:ahLst/>
              <a:rect l="textAreaLeft" t="textAreaTop" r="textAreaRight" b="textAreaBottom"/>
              <a:pathLst>
                <a:path w="553720" h="450850">
                  <a:moveTo>
                    <a:pt x="0" y="121665"/>
                  </a:moveTo>
                  <a:lnTo>
                    <a:pt x="85471" y="0"/>
                  </a:lnTo>
                  <a:lnTo>
                    <a:pt x="276733" y="134238"/>
                  </a:lnTo>
                  <a:lnTo>
                    <a:pt x="467995" y="0"/>
                  </a:lnTo>
                  <a:lnTo>
                    <a:pt x="553465" y="121665"/>
                  </a:lnTo>
                  <a:lnTo>
                    <a:pt x="406146" y="225170"/>
                  </a:lnTo>
                  <a:lnTo>
                    <a:pt x="553465" y="328675"/>
                  </a:lnTo>
                  <a:lnTo>
                    <a:pt x="467995" y="450341"/>
                  </a:lnTo>
                  <a:lnTo>
                    <a:pt x="276733" y="316102"/>
                  </a:lnTo>
                  <a:lnTo>
                    <a:pt x="85471" y="450341"/>
                  </a:lnTo>
                  <a:lnTo>
                    <a:pt x="0" y="328675"/>
                  </a:lnTo>
                  <a:lnTo>
                    <a:pt x="147320" y="225170"/>
                  </a:lnTo>
                  <a:lnTo>
                    <a:pt x="0" y="121665"/>
                  </a:lnTo>
                  <a:close/>
                </a:path>
              </a:pathLst>
            </a:custGeom>
            <a:noFill/>
            <a:ln w="25908">
              <a:solidFill>
                <a:srgbClr val="c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8" name="object 50"/>
          <p:cNvGrpSpPr/>
          <p:nvPr/>
        </p:nvGrpSpPr>
        <p:grpSpPr>
          <a:xfrm>
            <a:off x="7820640" y="1824480"/>
            <a:ext cx="554040" cy="450360"/>
            <a:chOff x="7820640" y="1824480"/>
            <a:chExt cx="554040" cy="450360"/>
          </a:xfrm>
        </p:grpSpPr>
        <p:sp>
          <p:nvSpPr>
            <p:cNvPr id="129" name="object 51"/>
            <p:cNvSpPr/>
            <p:nvPr/>
          </p:nvSpPr>
          <p:spPr>
            <a:xfrm>
              <a:off x="7820640" y="1824480"/>
              <a:ext cx="554040" cy="450360"/>
            </a:xfrm>
            <a:custGeom>
              <a:avLst/>
              <a:gdLst>
                <a:gd name="textAreaLeft" fmla="*/ 0 w 554040"/>
                <a:gd name="textAreaRight" fmla="*/ 554400 w 554040"/>
                <a:gd name="textAreaTop" fmla="*/ 0 h 450360"/>
                <a:gd name="textAreaBottom" fmla="*/ 450720 h 450360"/>
              </a:gdLst>
              <a:ahLst/>
              <a:rect l="textAreaLeft" t="textAreaTop" r="textAreaRight" b="textAreaBottom"/>
              <a:pathLst>
                <a:path w="554354" h="450850">
                  <a:moveTo>
                    <a:pt x="468884" y="0"/>
                  </a:moveTo>
                  <a:lnTo>
                    <a:pt x="277114" y="134365"/>
                  </a:lnTo>
                  <a:lnTo>
                    <a:pt x="85344" y="0"/>
                  </a:lnTo>
                  <a:lnTo>
                    <a:pt x="0" y="121792"/>
                  </a:lnTo>
                  <a:lnTo>
                    <a:pt x="147574" y="225170"/>
                  </a:lnTo>
                  <a:lnTo>
                    <a:pt x="0" y="328549"/>
                  </a:lnTo>
                  <a:lnTo>
                    <a:pt x="85344" y="450341"/>
                  </a:lnTo>
                  <a:lnTo>
                    <a:pt x="277114" y="315975"/>
                  </a:lnTo>
                  <a:lnTo>
                    <a:pt x="468884" y="450341"/>
                  </a:lnTo>
                  <a:lnTo>
                    <a:pt x="554228" y="328549"/>
                  </a:lnTo>
                  <a:lnTo>
                    <a:pt x="406654" y="225170"/>
                  </a:lnTo>
                  <a:lnTo>
                    <a:pt x="554228" y="121792"/>
                  </a:lnTo>
                  <a:lnTo>
                    <a:pt x="468884" y="0"/>
                  </a:lnTo>
                  <a:close/>
                </a:path>
              </a:pathLst>
            </a:custGeom>
            <a:solidFill>
              <a:srgbClr val="c050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" name="object 52"/>
            <p:cNvSpPr/>
            <p:nvPr/>
          </p:nvSpPr>
          <p:spPr>
            <a:xfrm>
              <a:off x="7820640" y="1824480"/>
              <a:ext cx="554040" cy="450360"/>
            </a:xfrm>
            <a:custGeom>
              <a:avLst/>
              <a:gdLst>
                <a:gd name="textAreaLeft" fmla="*/ 0 w 554040"/>
                <a:gd name="textAreaRight" fmla="*/ 554400 w 554040"/>
                <a:gd name="textAreaTop" fmla="*/ 0 h 450360"/>
                <a:gd name="textAreaBottom" fmla="*/ 450720 h 450360"/>
              </a:gdLst>
              <a:ahLst/>
              <a:rect l="textAreaLeft" t="textAreaTop" r="textAreaRight" b="textAreaBottom"/>
              <a:pathLst>
                <a:path w="554354" h="450850">
                  <a:moveTo>
                    <a:pt x="0" y="121792"/>
                  </a:moveTo>
                  <a:lnTo>
                    <a:pt x="85344" y="0"/>
                  </a:lnTo>
                  <a:lnTo>
                    <a:pt x="277114" y="134365"/>
                  </a:lnTo>
                  <a:lnTo>
                    <a:pt x="468884" y="0"/>
                  </a:lnTo>
                  <a:lnTo>
                    <a:pt x="554228" y="121792"/>
                  </a:lnTo>
                  <a:lnTo>
                    <a:pt x="406654" y="225170"/>
                  </a:lnTo>
                  <a:lnTo>
                    <a:pt x="554228" y="328549"/>
                  </a:lnTo>
                  <a:lnTo>
                    <a:pt x="468884" y="450341"/>
                  </a:lnTo>
                  <a:lnTo>
                    <a:pt x="277114" y="315975"/>
                  </a:lnTo>
                  <a:lnTo>
                    <a:pt x="85344" y="450341"/>
                  </a:lnTo>
                  <a:lnTo>
                    <a:pt x="0" y="328549"/>
                  </a:lnTo>
                  <a:lnTo>
                    <a:pt x="147574" y="225170"/>
                  </a:lnTo>
                  <a:lnTo>
                    <a:pt x="0" y="121792"/>
                  </a:lnTo>
                  <a:close/>
                </a:path>
              </a:pathLst>
            </a:custGeom>
            <a:noFill/>
            <a:ln w="25908">
              <a:solidFill>
                <a:srgbClr val="c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31" name="object 18" descr=""/>
          <p:cNvPicPr/>
          <p:nvPr/>
        </p:nvPicPr>
        <p:blipFill>
          <a:blip r:embed="rId7"/>
          <a:stretch/>
        </p:blipFill>
        <p:spPr>
          <a:xfrm>
            <a:off x="198000" y="3093840"/>
            <a:ext cx="91080" cy="91080"/>
          </a:xfrm>
          <a:prstGeom prst="rect">
            <a:avLst/>
          </a:prstGeom>
          <a:ln w="0">
            <a:noFill/>
          </a:ln>
        </p:spPr>
      </p:pic>
      <p:sp>
        <p:nvSpPr>
          <p:cNvPr id="132" name="object 19"/>
          <p:cNvSpPr/>
          <p:nvPr/>
        </p:nvSpPr>
        <p:spPr>
          <a:xfrm>
            <a:off x="414000" y="2871000"/>
            <a:ext cx="327996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8880" bIns="0" anchor="t">
            <a:spAutoFit/>
          </a:bodyPr>
          <a:p>
            <a:pPr marL="12600">
              <a:lnSpc>
                <a:spcPct val="100000"/>
              </a:lnSpc>
              <a:spcBef>
                <a:spcPts val="306"/>
              </a:spcBef>
            </a:pPr>
            <a:r>
              <a:rPr b="1" lang="en-US" sz="1400" spc="-12" strike="noStrike">
                <a:solidFill>
                  <a:srgbClr val="1a1a1a"/>
                </a:solidFill>
                <a:latin typeface="Calibri"/>
              </a:rPr>
              <a:t>Single-</a:t>
            </a: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hospital</a:t>
            </a:r>
            <a:r>
              <a:rPr b="1" lang="en-US" sz="1400" spc="-12" strike="noStrike">
                <a:solidFill>
                  <a:srgbClr val="1a1a1a"/>
                </a:solidFill>
                <a:latin typeface="Calibri"/>
              </a:rPr>
              <a:t> dashboards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9000"/>
              </a:lnSpc>
              <a:spcBef>
                <a:spcPts val="34"/>
              </a:spcBef>
            </a:pP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AIIMS</a:t>
            </a:r>
            <a:r>
              <a:rPr b="0" lang="en-US" sz="1150" spc="-26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Delhi</a:t>
            </a:r>
            <a:r>
              <a:rPr b="0" lang="en-US" sz="1150" spc="-7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—</a:t>
            </a:r>
            <a:r>
              <a:rPr b="0" lang="en-US" sz="1150" spc="-21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live</a:t>
            </a:r>
            <a:r>
              <a:rPr b="0" lang="en-US" sz="1150" spc="4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for</a:t>
            </a:r>
            <a:r>
              <a:rPr b="0" lang="en-US" sz="1150" spc="-15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one</a:t>
            </a:r>
            <a:r>
              <a:rPr b="0" lang="en-US" sz="1150" spc="-7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site;</a:t>
            </a:r>
            <a:r>
              <a:rPr b="0" lang="en-US" sz="1150" spc="-15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a</a:t>
            </a:r>
            <a:r>
              <a:rPr b="0" lang="en-US" sz="1150" spc="-12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unified</a:t>
            </a:r>
            <a:r>
              <a:rPr b="0" lang="en-US" sz="1150" spc="-15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2" strike="noStrike">
                <a:solidFill>
                  <a:srgbClr val="5a5a5a"/>
                </a:solidFill>
                <a:latin typeface="Calibri"/>
              </a:rPr>
              <a:t>cross-hospital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view</a:t>
            </a:r>
            <a:r>
              <a:rPr b="0" lang="en-US" sz="1150" spc="-21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remains</a:t>
            </a:r>
            <a:r>
              <a:rPr b="0" lang="en-US" sz="1150" spc="-26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an</a:t>
            </a:r>
            <a:r>
              <a:rPr b="0" lang="en-US" sz="1150" spc="-35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2" strike="noStrike">
                <a:solidFill>
                  <a:srgbClr val="5a5a5a"/>
                </a:solidFill>
                <a:latin typeface="Calibri"/>
              </a:rPr>
              <a:t>aspiration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3" name="object 34"/>
          <p:cNvGrpSpPr/>
          <p:nvPr/>
        </p:nvGrpSpPr>
        <p:grpSpPr>
          <a:xfrm>
            <a:off x="4248720" y="2730960"/>
            <a:ext cx="1814760" cy="991800"/>
            <a:chOff x="4248720" y="2730960"/>
            <a:chExt cx="1814760" cy="991800"/>
          </a:xfrm>
        </p:grpSpPr>
        <p:pic>
          <p:nvPicPr>
            <p:cNvPr id="134" name="object 35" descr=""/>
            <p:cNvPicPr/>
            <p:nvPr/>
          </p:nvPicPr>
          <p:blipFill>
            <a:blip r:embed="rId8"/>
            <a:stretch/>
          </p:blipFill>
          <p:spPr>
            <a:xfrm>
              <a:off x="4248720" y="2730960"/>
              <a:ext cx="1814760" cy="9918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5" name="object 36"/>
            <p:cNvSpPr/>
            <p:nvPr/>
          </p:nvSpPr>
          <p:spPr>
            <a:xfrm>
              <a:off x="4290120" y="2746080"/>
              <a:ext cx="1737000" cy="914040"/>
            </a:xfrm>
            <a:custGeom>
              <a:avLst/>
              <a:gdLst>
                <a:gd name="textAreaLeft" fmla="*/ 0 w 1737000"/>
                <a:gd name="textAreaRight" fmla="*/ 1737360 w 173700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1737360" h="914400">
                  <a:moveTo>
                    <a:pt x="1682495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859536"/>
                  </a:lnTo>
                  <a:lnTo>
                    <a:pt x="4304" y="880913"/>
                  </a:lnTo>
                  <a:lnTo>
                    <a:pt x="16049" y="898350"/>
                  </a:lnTo>
                  <a:lnTo>
                    <a:pt x="33486" y="910095"/>
                  </a:lnTo>
                  <a:lnTo>
                    <a:pt x="54863" y="914400"/>
                  </a:lnTo>
                  <a:lnTo>
                    <a:pt x="1682495" y="914400"/>
                  </a:lnTo>
                  <a:lnTo>
                    <a:pt x="1703873" y="910095"/>
                  </a:lnTo>
                  <a:lnTo>
                    <a:pt x="1721310" y="898350"/>
                  </a:lnTo>
                  <a:lnTo>
                    <a:pt x="1733055" y="880913"/>
                  </a:lnTo>
                  <a:lnTo>
                    <a:pt x="1737360" y="859536"/>
                  </a:lnTo>
                  <a:lnTo>
                    <a:pt x="1737360" y="54863"/>
                  </a:lnTo>
                  <a:lnTo>
                    <a:pt x="1733055" y="33486"/>
                  </a:lnTo>
                  <a:lnTo>
                    <a:pt x="1721310" y="16049"/>
                  </a:lnTo>
                  <a:lnTo>
                    <a:pt x="1703873" y="4304"/>
                  </a:lnTo>
                  <a:lnTo>
                    <a:pt x="1682495" y="0"/>
                  </a:lnTo>
                  <a:close/>
                </a:path>
              </a:pathLst>
            </a:custGeom>
            <a:solidFill>
              <a:srgbClr val="e9f6e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" name="object 37"/>
            <p:cNvSpPr/>
            <p:nvPr/>
          </p:nvSpPr>
          <p:spPr>
            <a:xfrm>
              <a:off x="4290120" y="2746080"/>
              <a:ext cx="1737000" cy="914040"/>
            </a:xfrm>
            <a:custGeom>
              <a:avLst/>
              <a:gdLst>
                <a:gd name="textAreaLeft" fmla="*/ 0 w 1737000"/>
                <a:gd name="textAreaRight" fmla="*/ 1737360 w 173700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1737360" h="91440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682495" y="0"/>
                  </a:lnTo>
                  <a:lnTo>
                    <a:pt x="1703873" y="4304"/>
                  </a:lnTo>
                  <a:lnTo>
                    <a:pt x="1721310" y="16049"/>
                  </a:lnTo>
                  <a:lnTo>
                    <a:pt x="1733055" y="33486"/>
                  </a:lnTo>
                  <a:lnTo>
                    <a:pt x="1737360" y="54863"/>
                  </a:lnTo>
                  <a:lnTo>
                    <a:pt x="1737360" y="859536"/>
                  </a:lnTo>
                  <a:lnTo>
                    <a:pt x="1733055" y="880913"/>
                  </a:lnTo>
                  <a:lnTo>
                    <a:pt x="1721310" y="898350"/>
                  </a:lnTo>
                  <a:lnTo>
                    <a:pt x="1703873" y="910095"/>
                  </a:lnTo>
                  <a:lnTo>
                    <a:pt x="1682495" y="914400"/>
                  </a:lnTo>
                  <a:lnTo>
                    <a:pt x="54863" y="914400"/>
                  </a:lnTo>
                  <a:lnTo>
                    <a:pt x="33486" y="910095"/>
                  </a:lnTo>
                  <a:lnTo>
                    <a:pt x="16049" y="898350"/>
                  </a:lnTo>
                  <a:lnTo>
                    <a:pt x="4304" y="880913"/>
                  </a:lnTo>
                  <a:lnTo>
                    <a:pt x="0" y="859536"/>
                  </a:lnTo>
                  <a:lnTo>
                    <a:pt x="0" y="54863"/>
                  </a:lnTo>
                  <a:close/>
                </a:path>
              </a:pathLst>
            </a:custGeom>
            <a:noFill/>
            <a:ln w="12192">
              <a:solidFill>
                <a:srgbClr val="b7c5d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7" name="object 38"/>
          <p:cNvSpPr/>
          <p:nvPr/>
        </p:nvSpPr>
        <p:spPr>
          <a:xfrm>
            <a:off x="4787640" y="3006360"/>
            <a:ext cx="745200" cy="5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b="1" lang="en-US" sz="1150" spc="-12" strike="noStrike">
                <a:solidFill>
                  <a:srgbClr val="1a1a1a"/>
                </a:solidFill>
                <a:latin typeface="Calibri"/>
              </a:rPr>
              <a:t>Public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150" spc="-12" strike="noStrike">
                <a:solidFill>
                  <a:srgbClr val="1a1a1a"/>
                </a:solidFill>
                <a:latin typeface="Calibri"/>
              </a:rPr>
              <a:t>Dashboards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8" name="object 39"/>
          <p:cNvGrpSpPr/>
          <p:nvPr/>
        </p:nvGrpSpPr>
        <p:grpSpPr>
          <a:xfrm>
            <a:off x="6443280" y="2730960"/>
            <a:ext cx="1814760" cy="991800"/>
            <a:chOff x="6443280" y="2730960"/>
            <a:chExt cx="1814760" cy="991800"/>
          </a:xfrm>
        </p:grpSpPr>
        <p:pic>
          <p:nvPicPr>
            <p:cNvPr id="139" name="object 40" descr=""/>
            <p:cNvPicPr/>
            <p:nvPr/>
          </p:nvPicPr>
          <p:blipFill>
            <a:blip r:embed="rId9"/>
            <a:stretch/>
          </p:blipFill>
          <p:spPr>
            <a:xfrm>
              <a:off x="6443280" y="2730960"/>
              <a:ext cx="1814760" cy="9918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0" name="object 41"/>
            <p:cNvSpPr/>
            <p:nvPr/>
          </p:nvSpPr>
          <p:spPr>
            <a:xfrm>
              <a:off x="6484680" y="2746080"/>
              <a:ext cx="1737000" cy="914040"/>
            </a:xfrm>
            <a:custGeom>
              <a:avLst/>
              <a:gdLst>
                <a:gd name="textAreaLeft" fmla="*/ 0 w 1737000"/>
                <a:gd name="textAreaRight" fmla="*/ 1737360 w 173700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1737359" h="914400">
                  <a:moveTo>
                    <a:pt x="168249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859536"/>
                  </a:lnTo>
                  <a:lnTo>
                    <a:pt x="4304" y="880913"/>
                  </a:lnTo>
                  <a:lnTo>
                    <a:pt x="16049" y="898350"/>
                  </a:lnTo>
                  <a:lnTo>
                    <a:pt x="33486" y="910095"/>
                  </a:lnTo>
                  <a:lnTo>
                    <a:pt x="54863" y="914400"/>
                  </a:lnTo>
                  <a:lnTo>
                    <a:pt x="1682496" y="914400"/>
                  </a:lnTo>
                  <a:lnTo>
                    <a:pt x="1703873" y="910095"/>
                  </a:lnTo>
                  <a:lnTo>
                    <a:pt x="1721310" y="898350"/>
                  </a:lnTo>
                  <a:lnTo>
                    <a:pt x="1733055" y="880913"/>
                  </a:lnTo>
                  <a:lnTo>
                    <a:pt x="1737359" y="859536"/>
                  </a:lnTo>
                  <a:lnTo>
                    <a:pt x="1737359" y="54863"/>
                  </a:lnTo>
                  <a:lnTo>
                    <a:pt x="1733055" y="33486"/>
                  </a:lnTo>
                  <a:lnTo>
                    <a:pt x="1721310" y="16049"/>
                  </a:lnTo>
                  <a:lnTo>
                    <a:pt x="1703873" y="4304"/>
                  </a:lnTo>
                  <a:lnTo>
                    <a:pt x="1682496" y="0"/>
                  </a:lnTo>
                  <a:close/>
                </a:path>
              </a:pathLst>
            </a:custGeom>
            <a:solidFill>
              <a:srgbClr val="f3e9f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" name="object 42"/>
            <p:cNvSpPr/>
            <p:nvPr/>
          </p:nvSpPr>
          <p:spPr>
            <a:xfrm>
              <a:off x="6484680" y="2746080"/>
              <a:ext cx="1737000" cy="914040"/>
            </a:xfrm>
            <a:custGeom>
              <a:avLst/>
              <a:gdLst>
                <a:gd name="textAreaLeft" fmla="*/ 0 w 1737000"/>
                <a:gd name="textAreaRight" fmla="*/ 1737360 w 1737000"/>
                <a:gd name="textAreaTop" fmla="*/ 0 h 914040"/>
                <a:gd name="textAreaBottom" fmla="*/ 914400 h 914040"/>
              </a:gdLst>
              <a:ahLst/>
              <a:rect l="textAreaLeft" t="textAreaTop" r="textAreaRight" b="textAreaBottom"/>
              <a:pathLst>
                <a:path w="1737359" h="91440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682496" y="0"/>
                  </a:lnTo>
                  <a:lnTo>
                    <a:pt x="1703873" y="4304"/>
                  </a:lnTo>
                  <a:lnTo>
                    <a:pt x="1721310" y="16049"/>
                  </a:lnTo>
                  <a:lnTo>
                    <a:pt x="1733055" y="33486"/>
                  </a:lnTo>
                  <a:lnTo>
                    <a:pt x="1737359" y="54863"/>
                  </a:lnTo>
                  <a:lnTo>
                    <a:pt x="1737359" y="859536"/>
                  </a:lnTo>
                  <a:lnTo>
                    <a:pt x="1733055" y="880913"/>
                  </a:lnTo>
                  <a:lnTo>
                    <a:pt x="1721310" y="898350"/>
                  </a:lnTo>
                  <a:lnTo>
                    <a:pt x="1703873" y="910095"/>
                  </a:lnTo>
                  <a:lnTo>
                    <a:pt x="1682496" y="914400"/>
                  </a:lnTo>
                  <a:lnTo>
                    <a:pt x="54863" y="914400"/>
                  </a:lnTo>
                  <a:lnTo>
                    <a:pt x="33486" y="910095"/>
                  </a:lnTo>
                  <a:lnTo>
                    <a:pt x="16049" y="898350"/>
                  </a:lnTo>
                  <a:lnTo>
                    <a:pt x="4304" y="880913"/>
                  </a:lnTo>
                  <a:lnTo>
                    <a:pt x="0" y="859536"/>
                  </a:lnTo>
                  <a:lnTo>
                    <a:pt x="0" y="54863"/>
                  </a:lnTo>
                  <a:close/>
                </a:path>
              </a:pathLst>
            </a:custGeom>
            <a:noFill/>
            <a:ln w="12192">
              <a:solidFill>
                <a:srgbClr val="b7c5d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2" name="object 43"/>
          <p:cNvSpPr/>
          <p:nvPr/>
        </p:nvSpPr>
        <p:spPr>
          <a:xfrm>
            <a:off x="7076880" y="3006360"/>
            <a:ext cx="554040" cy="5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b="1" lang="en-US" sz="1150" spc="-12" strike="noStrike">
                <a:solidFill>
                  <a:srgbClr val="1a1a1a"/>
                </a:solidFill>
                <a:latin typeface="Calibri"/>
              </a:rPr>
              <a:t>Dispatch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1800" algn="ctr">
              <a:lnSpc>
                <a:spcPct val="100000"/>
              </a:lnSpc>
            </a:pPr>
            <a:r>
              <a:rPr b="1" lang="en-US" sz="1150" spc="-12" strike="noStrike">
                <a:solidFill>
                  <a:srgbClr val="1a1a1a"/>
                </a:solidFill>
                <a:latin typeface="Calibri"/>
              </a:rPr>
              <a:t>Tools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3" name="object 53"/>
          <p:cNvGrpSpPr/>
          <p:nvPr/>
        </p:nvGrpSpPr>
        <p:grpSpPr>
          <a:xfrm>
            <a:off x="5615640" y="3334680"/>
            <a:ext cx="554040" cy="449280"/>
            <a:chOff x="5615640" y="3334680"/>
            <a:chExt cx="554040" cy="449280"/>
          </a:xfrm>
        </p:grpSpPr>
        <p:sp>
          <p:nvSpPr>
            <p:cNvPr id="144" name="object 54"/>
            <p:cNvSpPr/>
            <p:nvPr/>
          </p:nvSpPr>
          <p:spPr>
            <a:xfrm>
              <a:off x="5615640" y="3334680"/>
              <a:ext cx="554040" cy="449280"/>
            </a:xfrm>
            <a:custGeom>
              <a:avLst/>
              <a:gdLst>
                <a:gd name="textAreaLeft" fmla="*/ 0 w 554040"/>
                <a:gd name="textAreaRight" fmla="*/ 554400 w 554040"/>
                <a:gd name="textAreaTop" fmla="*/ 0 h 449280"/>
                <a:gd name="textAreaBottom" fmla="*/ 449640 h 449280"/>
              </a:gdLst>
              <a:ahLst/>
              <a:rect l="textAreaLeft" t="textAreaTop" r="textAreaRight" b="textAreaBottom"/>
              <a:pathLst>
                <a:path w="554354" h="449579">
                  <a:moveTo>
                    <a:pt x="468883" y="0"/>
                  </a:moveTo>
                  <a:lnTo>
                    <a:pt x="276987" y="134238"/>
                  </a:lnTo>
                  <a:lnTo>
                    <a:pt x="85089" y="0"/>
                  </a:lnTo>
                  <a:lnTo>
                    <a:pt x="0" y="121665"/>
                  </a:lnTo>
                  <a:lnTo>
                    <a:pt x="147574" y="224789"/>
                  </a:lnTo>
                  <a:lnTo>
                    <a:pt x="0" y="327913"/>
                  </a:lnTo>
                  <a:lnTo>
                    <a:pt x="85089" y="449580"/>
                  </a:lnTo>
                  <a:lnTo>
                    <a:pt x="276987" y="315340"/>
                  </a:lnTo>
                  <a:lnTo>
                    <a:pt x="468883" y="449580"/>
                  </a:lnTo>
                  <a:lnTo>
                    <a:pt x="553974" y="327913"/>
                  </a:lnTo>
                  <a:lnTo>
                    <a:pt x="406400" y="224789"/>
                  </a:lnTo>
                  <a:lnTo>
                    <a:pt x="553974" y="121665"/>
                  </a:lnTo>
                  <a:lnTo>
                    <a:pt x="468883" y="0"/>
                  </a:lnTo>
                  <a:close/>
                </a:path>
              </a:pathLst>
            </a:custGeom>
            <a:solidFill>
              <a:srgbClr val="c050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" name="object 55"/>
            <p:cNvSpPr/>
            <p:nvPr/>
          </p:nvSpPr>
          <p:spPr>
            <a:xfrm>
              <a:off x="5615640" y="3334680"/>
              <a:ext cx="554040" cy="449280"/>
            </a:xfrm>
            <a:custGeom>
              <a:avLst/>
              <a:gdLst>
                <a:gd name="textAreaLeft" fmla="*/ 0 w 554040"/>
                <a:gd name="textAreaRight" fmla="*/ 554400 w 554040"/>
                <a:gd name="textAreaTop" fmla="*/ 0 h 449280"/>
                <a:gd name="textAreaBottom" fmla="*/ 449640 h 449280"/>
              </a:gdLst>
              <a:ahLst/>
              <a:rect l="textAreaLeft" t="textAreaTop" r="textAreaRight" b="textAreaBottom"/>
              <a:pathLst>
                <a:path w="554354" h="449579">
                  <a:moveTo>
                    <a:pt x="0" y="121665"/>
                  </a:moveTo>
                  <a:lnTo>
                    <a:pt x="85089" y="0"/>
                  </a:lnTo>
                  <a:lnTo>
                    <a:pt x="276987" y="134238"/>
                  </a:lnTo>
                  <a:lnTo>
                    <a:pt x="468883" y="0"/>
                  </a:lnTo>
                  <a:lnTo>
                    <a:pt x="553974" y="121665"/>
                  </a:lnTo>
                  <a:lnTo>
                    <a:pt x="406400" y="224789"/>
                  </a:lnTo>
                  <a:lnTo>
                    <a:pt x="553974" y="327913"/>
                  </a:lnTo>
                  <a:lnTo>
                    <a:pt x="468883" y="449580"/>
                  </a:lnTo>
                  <a:lnTo>
                    <a:pt x="276987" y="315340"/>
                  </a:lnTo>
                  <a:lnTo>
                    <a:pt x="85089" y="449580"/>
                  </a:lnTo>
                  <a:lnTo>
                    <a:pt x="0" y="327913"/>
                  </a:lnTo>
                  <a:lnTo>
                    <a:pt x="147574" y="224789"/>
                  </a:lnTo>
                  <a:lnTo>
                    <a:pt x="0" y="121665"/>
                  </a:lnTo>
                  <a:close/>
                </a:path>
              </a:pathLst>
            </a:custGeom>
            <a:noFill/>
            <a:ln w="25908">
              <a:solidFill>
                <a:srgbClr val="c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6" name="object 56"/>
          <p:cNvGrpSpPr/>
          <p:nvPr/>
        </p:nvGrpSpPr>
        <p:grpSpPr>
          <a:xfrm>
            <a:off x="7777800" y="3383280"/>
            <a:ext cx="553320" cy="449280"/>
            <a:chOff x="7777800" y="3383280"/>
            <a:chExt cx="553320" cy="449280"/>
          </a:xfrm>
        </p:grpSpPr>
        <p:sp>
          <p:nvSpPr>
            <p:cNvPr id="147" name="object 57"/>
            <p:cNvSpPr/>
            <p:nvPr/>
          </p:nvSpPr>
          <p:spPr>
            <a:xfrm>
              <a:off x="7777800" y="3383280"/>
              <a:ext cx="553320" cy="449280"/>
            </a:xfrm>
            <a:custGeom>
              <a:avLst/>
              <a:gdLst>
                <a:gd name="textAreaLeft" fmla="*/ 0 w 553320"/>
                <a:gd name="textAreaRight" fmla="*/ 553680 w 553320"/>
                <a:gd name="textAreaTop" fmla="*/ 0 h 449280"/>
                <a:gd name="textAreaBottom" fmla="*/ 449640 h 449280"/>
              </a:gdLst>
              <a:ahLst/>
              <a:rect l="textAreaLeft" t="textAreaTop" r="textAreaRight" b="textAreaBottom"/>
              <a:pathLst>
                <a:path w="553720" h="449579">
                  <a:moveTo>
                    <a:pt x="467995" y="0"/>
                  </a:moveTo>
                  <a:lnTo>
                    <a:pt x="276606" y="134112"/>
                  </a:lnTo>
                  <a:lnTo>
                    <a:pt x="85217" y="0"/>
                  </a:lnTo>
                  <a:lnTo>
                    <a:pt x="0" y="121538"/>
                  </a:lnTo>
                  <a:lnTo>
                    <a:pt x="147320" y="224662"/>
                  </a:lnTo>
                  <a:lnTo>
                    <a:pt x="0" y="327786"/>
                  </a:lnTo>
                  <a:lnTo>
                    <a:pt x="85217" y="449325"/>
                  </a:lnTo>
                  <a:lnTo>
                    <a:pt x="276606" y="315213"/>
                  </a:lnTo>
                  <a:lnTo>
                    <a:pt x="467995" y="449325"/>
                  </a:lnTo>
                  <a:lnTo>
                    <a:pt x="553212" y="327786"/>
                  </a:lnTo>
                  <a:lnTo>
                    <a:pt x="405892" y="224662"/>
                  </a:lnTo>
                  <a:lnTo>
                    <a:pt x="553212" y="121538"/>
                  </a:lnTo>
                  <a:lnTo>
                    <a:pt x="467995" y="0"/>
                  </a:lnTo>
                  <a:close/>
                </a:path>
              </a:pathLst>
            </a:custGeom>
            <a:solidFill>
              <a:srgbClr val="c050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8" name="object 58"/>
            <p:cNvSpPr/>
            <p:nvPr/>
          </p:nvSpPr>
          <p:spPr>
            <a:xfrm>
              <a:off x="7777800" y="3383280"/>
              <a:ext cx="553320" cy="449280"/>
            </a:xfrm>
            <a:custGeom>
              <a:avLst/>
              <a:gdLst>
                <a:gd name="textAreaLeft" fmla="*/ 0 w 553320"/>
                <a:gd name="textAreaRight" fmla="*/ 553680 w 553320"/>
                <a:gd name="textAreaTop" fmla="*/ 0 h 449280"/>
                <a:gd name="textAreaBottom" fmla="*/ 449640 h 449280"/>
              </a:gdLst>
              <a:ahLst/>
              <a:rect l="textAreaLeft" t="textAreaTop" r="textAreaRight" b="textAreaBottom"/>
              <a:pathLst>
                <a:path w="553720" h="449579">
                  <a:moveTo>
                    <a:pt x="0" y="121538"/>
                  </a:moveTo>
                  <a:lnTo>
                    <a:pt x="85217" y="0"/>
                  </a:lnTo>
                  <a:lnTo>
                    <a:pt x="276606" y="134112"/>
                  </a:lnTo>
                  <a:lnTo>
                    <a:pt x="467995" y="0"/>
                  </a:lnTo>
                  <a:lnTo>
                    <a:pt x="553212" y="121538"/>
                  </a:lnTo>
                  <a:lnTo>
                    <a:pt x="405892" y="224662"/>
                  </a:lnTo>
                  <a:lnTo>
                    <a:pt x="553212" y="327786"/>
                  </a:lnTo>
                  <a:lnTo>
                    <a:pt x="467995" y="449325"/>
                  </a:lnTo>
                  <a:lnTo>
                    <a:pt x="276606" y="315213"/>
                  </a:lnTo>
                  <a:lnTo>
                    <a:pt x="85217" y="449325"/>
                  </a:lnTo>
                  <a:lnTo>
                    <a:pt x="0" y="327786"/>
                  </a:lnTo>
                  <a:lnTo>
                    <a:pt x="147320" y="224662"/>
                  </a:lnTo>
                  <a:lnTo>
                    <a:pt x="0" y="121538"/>
                  </a:lnTo>
                  <a:close/>
                </a:path>
              </a:pathLst>
            </a:custGeom>
            <a:noFill/>
            <a:ln w="25908">
              <a:solidFill>
                <a:srgbClr val="c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49" name="object 20" descr=""/>
          <p:cNvPicPr/>
          <p:nvPr/>
        </p:nvPicPr>
        <p:blipFill>
          <a:blip r:embed="rId10"/>
          <a:stretch/>
        </p:blipFill>
        <p:spPr>
          <a:xfrm>
            <a:off x="198000" y="4053960"/>
            <a:ext cx="91080" cy="91080"/>
          </a:xfrm>
          <a:prstGeom prst="rect">
            <a:avLst/>
          </a:prstGeom>
          <a:ln w="0">
            <a:noFill/>
          </a:ln>
        </p:spPr>
      </p:pic>
      <p:sp>
        <p:nvSpPr>
          <p:cNvPr id="150" name="object 21"/>
          <p:cNvSpPr/>
          <p:nvPr/>
        </p:nvSpPr>
        <p:spPr>
          <a:xfrm>
            <a:off x="414000" y="3832200"/>
            <a:ext cx="2951640" cy="81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8160" bIns="0" anchor="t">
            <a:spAutoFit/>
          </a:bodyPr>
          <a:p>
            <a:pPr marL="12600">
              <a:lnSpc>
                <a:spcPct val="100000"/>
              </a:lnSpc>
              <a:spcBef>
                <a:spcPts val="300"/>
              </a:spcBef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Ambulance</a:t>
            </a:r>
            <a:r>
              <a:rPr b="1" lang="en-US" sz="1400" spc="-46" strike="noStrike">
                <a:solidFill>
                  <a:srgbClr val="1a1a1a"/>
                </a:solidFill>
                <a:latin typeface="Calibri"/>
              </a:rPr>
              <a:t> </a:t>
            </a: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dispatch</a:t>
            </a:r>
            <a:r>
              <a:rPr b="1" lang="en-US" sz="1400" spc="-46" strike="noStrike">
                <a:solidFill>
                  <a:srgbClr val="1a1a1a"/>
                </a:solidFill>
                <a:latin typeface="Calibri"/>
              </a:rPr>
              <a:t> </a:t>
            </a:r>
            <a:r>
              <a:rPr b="1" lang="en-US" sz="1400" spc="-12" strike="noStrike">
                <a:solidFill>
                  <a:srgbClr val="1a1a1a"/>
                </a:solidFill>
                <a:latin typeface="Calibri"/>
              </a:rPr>
              <a:t>tools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64"/>
              </a:spcBef>
            </a:pP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AngelTrack,</a:t>
            </a:r>
            <a:r>
              <a:rPr b="0" lang="en-US" sz="1150" spc="-52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PatientERP</a:t>
            </a:r>
            <a:r>
              <a:rPr b="0" lang="en-US" sz="1150" spc="-15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—</a:t>
            </a:r>
            <a:r>
              <a:rPr b="0" lang="en-US" sz="1150" spc="-35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bed</a:t>
            </a:r>
            <a:r>
              <a:rPr b="0" lang="en-US" sz="1150" spc="-35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visibility</a:t>
            </a:r>
            <a:r>
              <a:rPr b="0" lang="en-US" sz="1150" spc="-15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limited</a:t>
            </a:r>
            <a:r>
              <a:rPr b="0" lang="en-US" sz="1150" spc="-46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26" strike="noStrike">
                <a:solidFill>
                  <a:srgbClr val="5a5a5a"/>
                </a:solidFill>
                <a:latin typeface="Calibri"/>
              </a:rPr>
              <a:t>to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45720">
              <a:lnSpc>
                <a:spcPct val="100000"/>
              </a:lnSpc>
              <a:spcBef>
                <a:spcPts val="136"/>
              </a:spcBef>
            </a:pP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directly</a:t>
            </a:r>
            <a:r>
              <a:rPr b="0" lang="en-US" sz="1150" spc="-46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5a5a5a"/>
                </a:solidFill>
                <a:latin typeface="Calibri"/>
              </a:rPr>
              <a:t>partnered</a:t>
            </a:r>
            <a:r>
              <a:rPr b="0" lang="en-US" sz="1150" spc="-32" strike="noStrike">
                <a:solidFill>
                  <a:srgbClr val="5a5a5a"/>
                </a:solidFill>
                <a:latin typeface="Calibri"/>
              </a:rPr>
              <a:t> </a:t>
            </a:r>
            <a:r>
              <a:rPr b="0" lang="en-US" sz="1150" spc="-12" strike="noStrike">
                <a:solidFill>
                  <a:srgbClr val="5a5a5a"/>
                </a:solidFill>
                <a:latin typeface="Calibri"/>
              </a:rPr>
              <a:t>hospitals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object 44"/>
          <p:cNvSpPr/>
          <p:nvPr/>
        </p:nvSpPr>
        <p:spPr>
          <a:xfrm>
            <a:off x="5259600" y="3931920"/>
            <a:ext cx="18997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i="1" lang="en-US" sz="1000" spc="-1" strike="noStrike">
                <a:solidFill>
                  <a:srgbClr val="c0504d"/>
                </a:solidFill>
                <a:latin typeface="Calibri"/>
              </a:rPr>
              <a:t>No</a:t>
            </a:r>
            <a:r>
              <a:rPr b="0" i="1" lang="en-US" sz="1000" spc="-12" strike="noStrike">
                <a:solidFill>
                  <a:srgbClr val="c0504d"/>
                </a:solidFill>
                <a:latin typeface="Calibri"/>
              </a:rPr>
              <a:t> </a:t>
            </a:r>
            <a:r>
              <a:rPr b="0" i="1" lang="en-US" sz="1000" spc="-1" strike="noStrike">
                <a:solidFill>
                  <a:srgbClr val="c0504d"/>
                </a:solidFill>
                <a:latin typeface="Calibri"/>
              </a:rPr>
              <a:t>shared</a:t>
            </a:r>
            <a:r>
              <a:rPr b="0" i="1" lang="en-US" sz="1000" spc="-26" strike="noStrike">
                <a:solidFill>
                  <a:srgbClr val="c0504d"/>
                </a:solidFill>
                <a:latin typeface="Calibri"/>
              </a:rPr>
              <a:t> </a:t>
            </a:r>
            <a:r>
              <a:rPr b="0" i="1" lang="en-US" sz="1000" spc="-12" strike="noStrike">
                <a:solidFill>
                  <a:srgbClr val="c0504d"/>
                </a:solidFill>
                <a:latin typeface="Calibri"/>
              </a:rPr>
              <a:t>visibility </a:t>
            </a:r>
            <a:r>
              <a:rPr b="0" i="1" lang="en-US" sz="1000" spc="-1" strike="noStrike">
                <a:solidFill>
                  <a:srgbClr val="c0504d"/>
                </a:solidFill>
                <a:latin typeface="Calibri"/>
              </a:rPr>
              <a:t>between</a:t>
            </a:r>
            <a:r>
              <a:rPr b="0" i="1" lang="en-US" sz="1000" spc="-15" strike="noStrike">
                <a:solidFill>
                  <a:srgbClr val="c0504d"/>
                </a:solidFill>
                <a:latin typeface="Calibri"/>
              </a:rPr>
              <a:t> </a:t>
            </a:r>
            <a:r>
              <a:rPr b="0" i="1" lang="en-US" sz="1000" spc="-12" strike="noStrike">
                <a:solidFill>
                  <a:srgbClr val="c0504d"/>
                </a:solidFill>
                <a:latin typeface="Calibri"/>
              </a:rPr>
              <a:t>systems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object 45"/>
          <p:cNvSpPr/>
          <p:nvPr/>
        </p:nvSpPr>
        <p:spPr>
          <a:xfrm>
            <a:off x="4655880" y="4346280"/>
            <a:ext cx="3108600" cy="594000"/>
          </a:xfrm>
          <a:custGeom>
            <a:avLst/>
            <a:gdLst>
              <a:gd name="textAreaLeft" fmla="*/ 0 w 3108600"/>
              <a:gd name="textAreaRight" fmla="*/ 3108960 w 3108600"/>
              <a:gd name="textAreaTop" fmla="*/ 0 h 594000"/>
              <a:gd name="textAreaBottom" fmla="*/ 594360 h 594000"/>
            </a:gdLst>
            <a:ahLst/>
            <a:rect l="textAreaLeft" t="textAreaTop" r="textAreaRight" b="textAreaBottom"/>
            <a:pathLst>
              <a:path w="3108959" h="594360">
                <a:moveTo>
                  <a:pt x="3035807" y="0"/>
                </a:moveTo>
                <a:lnTo>
                  <a:pt x="73151" y="0"/>
                </a:lnTo>
                <a:lnTo>
                  <a:pt x="44684" y="5750"/>
                </a:lnTo>
                <a:lnTo>
                  <a:pt x="21431" y="21431"/>
                </a:lnTo>
                <a:lnTo>
                  <a:pt x="5750" y="44684"/>
                </a:lnTo>
                <a:lnTo>
                  <a:pt x="0" y="73151"/>
                </a:lnTo>
                <a:lnTo>
                  <a:pt x="0" y="521207"/>
                </a:lnTo>
                <a:lnTo>
                  <a:pt x="5750" y="549675"/>
                </a:lnTo>
                <a:lnTo>
                  <a:pt x="21431" y="572928"/>
                </a:lnTo>
                <a:lnTo>
                  <a:pt x="44684" y="588609"/>
                </a:lnTo>
                <a:lnTo>
                  <a:pt x="73151" y="594359"/>
                </a:lnTo>
                <a:lnTo>
                  <a:pt x="3035807" y="594359"/>
                </a:lnTo>
                <a:lnTo>
                  <a:pt x="3064275" y="588609"/>
                </a:lnTo>
                <a:lnTo>
                  <a:pt x="3087528" y="572928"/>
                </a:lnTo>
                <a:lnTo>
                  <a:pt x="3103209" y="549675"/>
                </a:lnTo>
                <a:lnTo>
                  <a:pt x="3108959" y="521207"/>
                </a:lnTo>
                <a:lnTo>
                  <a:pt x="3108959" y="73151"/>
                </a:lnTo>
                <a:lnTo>
                  <a:pt x="3103209" y="44684"/>
                </a:lnTo>
                <a:lnTo>
                  <a:pt x="3087528" y="21431"/>
                </a:lnTo>
                <a:lnTo>
                  <a:pt x="3064275" y="5750"/>
                </a:lnTo>
                <a:lnTo>
                  <a:pt x="3035807" y="0"/>
                </a:lnTo>
                <a:close/>
              </a:path>
            </a:pathLst>
          </a:cu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object 46"/>
          <p:cNvSpPr/>
          <p:nvPr/>
        </p:nvSpPr>
        <p:spPr>
          <a:xfrm>
            <a:off x="4850280" y="4531320"/>
            <a:ext cx="27180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MedMesh:</a:t>
            </a:r>
            <a:r>
              <a:rPr b="1" lang="en-US" sz="1200" spc="-2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one</a:t>
            </a:r>
            <a:r>
              <a:rPr b="1" lang="en-US" sz="1200" spc="-32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shared</a:t>
            </a:r>
            <a:r>
              <a:rPr b="1" lang="en-US" sz="12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layer</a:t>
            </a:r>
            <a:r>
              <a:rPr b="1" lang="en-US" sz="1200" spc="-2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across</a:t>
            </a:r>
            <a:r>
              <a:rPr b="1" lang="en-US" sz="12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all</a:t>
            </a:r>
            <a:r>
              <a:rPr b="1" lang="en-US" sz="1200" spc="-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1" lang="en-US" sz="1200" spc="-21" strike="noStrike">
                <a:solidFill>
                  <a:srgbClr val="ffffff"/>
                </a:solidFill>
                <a:latin typeface="Calibri"/>
              </a:rPr>
              <a:t>four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object 22"/>
          <p:cNvSpPr/>
          <p:nvPr/>
        </p:nvSpPr>
        <p:spPr>
          <a:xfrm>
            <a:off x="198000" y="4986360"/>
            <a:ext cx="5303160" cy="868320"/>
          </a:xfrm>
          <a:custGeom>
            <a:avLst/>
            <a:gdLst>
              <a:gd name="textAreaLeft" fmla="*/ 0 w 5303160"/>
              <a:gd name="textAreaRight" fmla="*/ 5303520 w 5303160"/>
              <a:gd name="textAreaTop" fmla="*/ 0 h 868320"/>
              <a:gd name="textAreaBottom" fmla="*/ 868680 h 868320"/>
            </a:gdLst>
            <a:ahLst/>
            <a:rect l="textAreaLeft" t="textAreaTop" r="textAreaRight" b="textAreaBottom"/>
            <a:pathLst>
              <a:path w="5303520" h="868679">
                <a:moveTo>
                  <a:pt x="5230368" y="0"/>
                </a:moveTo>
                <a:lnTo>
                  <a:pt x="73152" y="0"/>
                </a:lnTo>
                <a:lnTo>
                  <a:pt x="44678" y="5750"/>
                </a:lnTo>
                <a:lnTo>
                  <a:pt x="21426" y="21431"/>
                </a:lnTo>
                <a:lnTo>
                  <a:pt x="5748" y="44684"/>
                </a:lnTo>
                <a:lnTo>
                  <a:pt x="0" y="73152"/>
                </a:lnTo>
                <a:lnTo>
                  <a:pt x="0" y="795528"/>
                </a:lnTo>
                <a:lnTo>
                  <a:pt x="5748" y="824001"/>
                </a:lnTo>
                <a:lnTo>
                  <a:pt x="21426" y="847253"/>
                </a:lnTo>
                <a:lnTo>
                  <a:pt x="44678" y="862931"/>
                </a:lnTo>
                <a:lnTo>
                  <a:pt x="73152" y="868680"/>
                </a:lnTo>
                <a:lnTo>
                  <a:pt x="5230368" y="868680"/>
                </a:lnTo>
                <a:lnTo>
                  <a:pt x="5258835" y="862931"/>
                </a:lnTo>
                <a:lnTo>
                  <a:pt x="5282088" y="847253"/>
                </a:lnTo>
                <a:lnTo>
                  <a:pt x="5297769" y="824001"/>
                </a:lnTo>
                <a:lnTo>
                  <a:pt x="5303520" y="795528"/>
                </a:lnTo>
                <a:lnTo>
                  <a:pt x="5303520" y="73152"/>
                </a:lnTo>
                <a:lnTo>
                  <a:pt x="5297769" y="44684"/>
                </a:lnTo>
                <a:lnTo>
                  <a:pt x="5282088" y="21431"/>
                </a:lnTo>
                <a:lnTo>
                  <a:pt x="5258835" y="5750"/>
                </a:lnTo>
                <a:lnTo>
                  <a:pt x="5230368" y="0"/>
                </a:lnTo>
                <a:close/>
              </a:path>
            </a:pathLst>
          </a:custGeom>
          <a:solidFill>
            <a:srgbClr val="dce9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object 23"/>
          <p:cNvSpPr/>
          <p:nvPr/>
        </p:nvSpPr>
        <p:spPr>
          <a:xfrm>
            <a:off x="368280" y="5193000"/>
            <a:ext cx="459972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4000"/>
              </a:lnSpc>
              <a:spcBef>
                <a:spcPts val="99"/>
              </a:spcBef>
            </a:pPr>
            <a:r>
              <a:rPr b="1" lang="en-US" sz="1150" spc="-1" strike="noStrike">
                <a:solidFill>
                  <a:srgbClr val="1f4e79"/>
                </a:solidFill>
                <a:latin typeface="Calibri"/>
              </a:rPr>
              <a:t>The</a:t>
            </a:r>
            <a:r>
              <a:rPr b="1" lang="en-US" sz="1150" spc="-26" strike="noStrike">
                <a:solidFill>
                  <a:srgbClr val="1f4e79"/>
                </a:solidFill>
                <a:latin typeface="Calibri"/>
              </a:rPr>
              <a:t> </a:t>
            </a:r>
            <a:r>
              <a:rPr b="1" lang="en-US" sz="1150" spc="-1" strike="noStrike">
                <a:solidFill>
                  <a:srgbClr val="1f4e79"/>
                </a:solidFill>
                <a:latin typeface="Calibri"/>
              </a:rPr>
              <a:t>gap:</a:t>
            </a:r>
            <a:r>
              <a:rPr b="1" lang="en-US" sz="1150" spc="-32" strike="noStrike">
                <a:solidFill>
                  <a:srgbClr val="1f4e79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1a1a1a"/>
                </a:solidFill>
                <a:latin typeface="Calibri"/>
              </a:rPr>
              <a:t>no open,</a:t>
            </a:r>
            <a:r>
              <a:rPr b="0" lang="en-US" sz="1150" spc="-7" strike="noStrike">
                <a:solidFill>
                  <a:srgbClr val="1a1a1a"/>
                </a:solidFill>
                <a:latin typeface="Calibri"/>
              </a:rPr>
              <a:t> </a:t>
            </a:r>
            <a:r>
              <a:rPr b="0" lang="en-US" sz="1150" spc="-12" strike="noStrike">
                <a:solidFill>
                  <a:srgbClr val="1a1a1a"/>
                </a:solidFill>
                <a:latin typeface="Calibri"/>
              </a:rPr>
              <a:t>cross-</a:t>
            </a:r>
            <a:r>
              <a:rPr b="0" lang="en-US" sz="1150" spc="-1" strike="noStrike">
                <a:solidFill>
                  <a:srgbClr val="1a1a1a"/>
                </a:solidFill>
                <a:latin typeface="Calibri"/>
              </a:rPr>
              <a:t>hospital,</a:t>
            </a:r>
            <a:r>
              <a:rPr b="0" lang="en-US" sz="1150" spc="-15" strike="noStrike">
                <a:solidFill>
                  <a:srgbClr val="1a1a1a"/>
                </a:solidFill>
                <a:latin typeface="Calibri"/>
              </a:rPr>
              <a:t> </a:t>
            </a:r>
            <a:r>
              <a:rPr b="0" lang="en-US" sz="1150" spc="-12" strike="noStrike">
                <a:solidFill>
                  <a:srgbClr val="1a1a1a"/>
                </a:solidFill>
                <a:latin typeface="Calibri"/>
              </a:rPr>
              <a:t>citizen-</a:t>
            </a:r>
            <a:r>
              <a:rPr b="0" lang="en-US" sz="1150" spc="-1" strike="noStrike">
                <a:solidFill>
                  <a:srgbClr val="1a1a1a"/>
                </a:solidFill>
                <a:latin typeface="Calibri"/>
              </a:rPr>
              <a:t>facing</a:t>
            </a:r>
            <a:r>
              <a:rPr b="0" lang="en-US" sz="1150" spc="-32" strike="noStrike">
                <a:solidFill>
                  <a:srgbClr val="1a1a1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1a1a1a"/>
                </a:solidFill>
                <a:latin typeface="Calibri"/>
              </a:rPr>
              <a:t>layer exists</a:t>
            </a:r>
            <a:r>
              <a:rPr b="0" lang="en-US" sz="1150" spc="-15" strike="noStrike">
                <a:solidFill>
                  <a:srgbClr val="1a1a1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1a1a1a"/>
                </a:solidFill>
                <a:latin typeface="Calibri"/>
              </a:rPr>
              <a:t>— that</a:t>
            </a:r>
            <a:r>
              <a:rPr b="0" lang="en-US" sz="1150" spc="-7" strike="noStrike">
                <a:solidFill>
                  <a:srgbClr val="1a1a1a"/>
                </a:solidFill>
                <a:latin typeface="Calibri"/>
              </a:rPr>
              <a:t> </a:t>
            </a:r>
            <a:r>
              <a:rPr b="0" lang="en-US" sz="1150" spc="-12" strike="noStrike">
                <a:solidFill>
                  <a:srgbClr val="1a1a1a"/>
                </a:solidFill>
                <a:latin typeface="Calibri"/>
              </a:rPr>
              <a:t>unclaimed </a:t>
            </a:r>
            <a:r>
              <a:rPr b="0" lang="en-US" sz="1150" spc="-1" strike="noStrike">
                <a:solidFill>
                  <a:srgbClr val="1a1a1a"/>
                </a:solidFill>
                <a:latin typeface="Calibri"/>
              </a:rPr>
              <a:t>space</a:t>
            </a:r>
            <a:r>
              <a:rPr b="0" lang="en-US" sz="1150" spc="-35" strike="noStrike">
                <a:solidFill>
                  <a:srgbClr val="1a1a1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1a1a1a"/>
                </a:solidFill>
                <a:latin typeface="Calibri"/>
              </a:rPr>
              <a:t>is</a:t>
            </a:r>
            <a:r>
              <a:rPr b="0" lang="en-US" sz="1150" spc="-32" strike="noStrike">
                <a:solidFill>
                  <a:srgbClr val="1a1a1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1a1a1a"/>
                </a:solidFill>
                <a:latin typeface="Calibri"/>
              </a:rPr>
              <a:t>where</a:t>
            </a:r>
            <a:r>
              <a:rPr b="0" lang="en-US" sz="1150" spc="-15" strike="noStrike">
                <a:solidFill>
                  <a:srgbClr val="1a1a1a"/>
                </a:solidFill>
                <a:latin typeface="Calibri"/>
              </a:rPr>
              <a:t> </a:t>
            </a:r>
            <a:r>
              <a:rPr b="0" lang="en-US" sz="1150" spc="-1" strike="noStrike">
                <a:solidFill>
                  <a:srgbClr val="1a1a1a"/>
                </a:solidFill>
                <a:latin typeface="Calibri"/>
              </a:rPr>
              <a:t>MedMesh</a:t>
            </a:r>
            <a:r>
              <a:rPr b="0" lang="en-US" sz="1150" spc="-32" strike="noStrike">
                <a:solidFill>
                  <a:srgbClr val="1a1a1a"/>
                </a:solidFill>
                <a:latin typeface="Calibri"/>
              </a:rPr>
              <a:t> </a:t>
            </a:r>
            <a:r>
              <a:rPr b="0" lang="en-US" sz="1150" spc="-21" strike="noStrike">
                <a:solidFill>
                  <a:srgbClr val="1a1a1a"/>
                </a:solidFill>
                <a:latin typeface="Calibri"/>
              </a:rPr>
              <a:t>sits.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6" name="object 2"/>
          <p:cNvGrpSpPr/>
          <p:nvPr/>
        </p:nvGrpSpPr>
        <p:grpSpPr>
          <a:xfrm>
            <a:off x="0" y="6026040"/>
            <a:ext cx="9143640" cy="831600"/>
            <a:chOff x="0" y="6026040"/>
            <a:chExt cx="9143640" cy="831600"/>
          </a:xfrm>
        </p:grpSpPr>
        <p:pic>
          <p:nvPicPr>
            <p:cNvPr id="157" name="object 3" descr=""/>
            <p:cNvPicPr/>
            <p:nvPr/>
          </p:nvPicPr>
          <p:blipFill>
            <a:blip r:embed="rId11"/>
            <a:stretch/>
          </p:blipFill>
          <p:spPr>
            <a:xfrm>
              <a:off x="6198120" y="6026040"/>
              <a:ext cx="2945520" cy="83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8" name="object 4" descr=""/>
            <p:cNvPicPr/>
            <p:nvPr/>
          </p:nvPicPr>
          <p:blipFill>
            <a:blip r:embed="rId12"/>
            <a:stretch/>
          </p:blipFill>
          <p:spPr>
            <a:xfrm>
              <a:off x="6268320" y="6073200"/>
              <a:ext cx="2875320" cy="77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59" name="object 5"/>
            <p:cNvSpPr/>
            <p:nvPr/>
          </p:nvSpPr>
          <p:spPr>
            <a:xfrm>
              <a:off x="0" y="6073200"/>
              <a:ext cx="9143640" cy="7725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772560"/>
                <a:gd name="textAreaBottom" fmla="*/ 772920 h 772560"/>
              </a:gdLst>
              <a:ahLst/>
              <a:rect l="textAreaLeft" t="textAreaTop" r="textAreaRight" b="textAreaBottom"/>
              <a:pathLst>
                <a:path w="9144000" h="772795">
                  <a:moveTo>
                    <a:pt x="6268212" y="772668"/>
                  </a:moveTo>
                  <a:lnTo>
                    <a:pt x="9144000" y="772668"/>
                  </a:lnTo>
                  <a:lnTo>
                    <a:pt x="9144000" y="0"/>
                  </a:lnTo>
                  <a:lnTo>
                    <a:pt x="6268212" y="0"/>
                  </a:lnTo>
                  <a:lnTo>
                    <a:pt x="6268212" y="772668"/>
                  </a:lnTo>
                  <a:close/>
                </a:path>
                <a:path w="9144000" h="77279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144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60" name="object 6" descr=""/>
            <p:cNvPicPr/>
            <p:nvPr/>
          </p:nvPicPr>
          <p:blipFill>
            <a:blip r:embed="rId13"/>
            <a:stretch/>
          </p:blipFill>
          <p:spPr>
            <a:xfrm>
              <a:off x="0" y="6026040"/>
              <a:ext cx="2918160" cy="83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1" name="object 7" descr=""/>
            <p:cNvPicPr/>
            <p:nvPr/>
          </p:nvPicPr>
          <p:blipFill>
            <a:blip r:embed="rId14"/>
            <a:stretch/>
          </p:blipFill>
          <p:spPr>
            <a:xfrm>
              <a:off x="0" y="6073200"/>
              <a:ext cx="2852640" cy="77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62" name="object 8"/>
            <p:cNvSpPr/>
            <p:nvPr/>
          </p:nvSpPr>
          <p:spPr>
            <a:xfrm>
              <a:off x="0" y="6073200"/>
              <a:ext cx="2852640" cy="772560"/>
            </a:xfrm>
            <a:custGeom>
              <a:avLst/>
              <a:gdLst>
                <a:gd name="textAreaLeft" fmla="*/ 0 w 2852640"/>
                <a:gd name="textAreaRight" fmla="*/ 2853000 w 2852640"/>
                <a:gd name="textAreaTop" fmla="*/ 0 h 772560"/>
                <a:gd name="textAreaBottom" fmla="*/ 772920 h 772560"/>
              </a:gdLst>
              <a:ahLst/>
              <a:rect l="textAreaLeft" t="textAreaTop" r="textAreaRight" b="textAreaBottom"/>
              <a:pathLst>
                <a:path w="2853055" h="772795">
                  <a:moveTo>
                    <a:pt x="0" y="772668"/>
                  </a:moveTo>
                  <a:lnTo>
                    <a:pt x="2852928" y="772668"/>
                  </a:lnTo>
                  <a:lnTo>
                    <a:pt x="2852928" y="0"/>
                  </a:lnTo>
                  <a:lnTo>
                    <a:pt x="0" y="0"/>
                  </a:lnTo>
                </a:path>
              </a:pathLst>
            </a:custGeom>
            <a:noFill/>
            <a:ln w="9144">
              <a:solidFill>
                <a:srgbClr val="97b85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3" name="object 59"/>
          <p:cNvSpPr/>
          <p:nvPr/>
        </p:nvSpPr>
        <p:spPr>
          <a:xfrm>
            <a:off x="7386120" y="6328440"/>
            <a:ext cx="64116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2064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Times New Roman"/>
              </a:rPr>
              <a:t>Page</a:t>
            </a:r>
            <a:r>
              <a:rPr b="0" lang="en-US" sz="1800" spc="-35" strike="noStrike">
                <a:solidFill>
                  <a:srgbClr val="ffffff"/>
                </a:solidFill>
                <a:latin typeface="Times New Roman"/>
              </a:rPr>
              <a:t> </a:t>
            </a:r>
            <a:r>
              <a:rPr b="0" lang="en-US" sz="1800" spc="-52" strike="noStrike">
                <a:solidFill>
                  <a:srgbClr val="ffffff"/>
                </a:solidFill>
                <a:latin typeface="Times New Roman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685080" y="6172200"/>
            <a:ext cx="1829520" cy="54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MedMesh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object 2"/>
          <p:cNvGrpSpPr/>
          <p:nvPr/>
        </p:nvGrpSpPr>
        <p:grpSpPr>
          <a:xfrm>
            <a:off x="0" y="0"/>
            <a:ext cx="9143640" cy="864360"/>
            <a:chOff x="0" y="0"/>
            <a:chExt cx="9143640" cy="864360"/>
          </a:xfrm>
        </p:grpSpPr>
        <p:pic>
          <p:nvPicPr>
            <p:cNvPr id="166" name="object 3" descr=""/>
            <p:cNvPicPr/>
            <p:nvPr/>
          </p:nvPicPr>
          <p:blipFill>
            <a:blip r:embed="rId1"/>
            <a:stretch/>
          </p:blipFill>
          <p:spPr>
            <a:xfrm>
              <a:off x="0" y="792360"/>
              <a:ext cx="9143640" cy="72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7" name="object 4" descr="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9143640" cy="792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68" name="object 5"/>
            <p:cNvSpPr/>
            <p:nvPr/>
          </p:nvSpPr>
          <p:spPr>
            <a:xfrm>
              <a:off x="0" y="0"/>
              <a:ext cx="9143640" cy="792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792000"/>
                <a:gd name="textAreaBottom" fmla="*/ 792360 h 792000"/>
              </a:gdLst>
              <a:ahLst/>
              <a:rect l="textAreaLeft" t="textAreaTop" r="textAreaRight" b="textAreaBottom"/>
              <a:pathLst>
                <a:path w="9144000" h="792480">
                  <a:moveTo>
                    <a:pt x="0" y="792479"/>
                  </a:moveTo>
                  <a:lnTo>
                    <a:pt x="9144000" y="79247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92479"/>
                  </a:lnTo>
                  <a:close/>
                </a:path>
              </a:pathLst>
            </a:custGeom>
            <a:noFill/>
            <a:ln w="9144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219600" y="126000"/>
            <a:ext cx="870444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404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3200" spc="-1" strike="noStrike">
                <a:solidFill>
                  <a:schemeClr val="lt1"/>
                </a:solidFill>
                <a:latin typeface="Times New Roman"/>
              </a:rPr>
              <a:t>PROPOSED</a:t>
            </a:r>
            <a:r>
              <a:rPr b="1" lang="en-US" sz="3200" spc="-46" strike="noStrike">
                <a:solidFill>
                  <a:schemeClr val="lt1"/>
                </a:solidFill>
                <a:latin typeface="Times New Roman"/>
              </a:rPr>
              <a:t> </a:t>
            </a:r>
            <a:r>
              <a:rPr b="1" lang="en-US" sz="3200" spc="-1" strike="noStrike">
                <a:solidFill>
                  <a:schemeClr val="lt1"/>
                </a:solidFill>
                <a:latin typeface="Times New Roman"/>
              </a:rPr>
              <a:t>SYSTEM</a:t>
            </a:r>
            <a:r>
              <a:rPr b="1" lang="en-US" sz="3200" spc="-12" strike="noStrike">
                <a:solidFill>
                  <a:schemeClr val="lt1"/>
                </a:solidFill>
                <a:latin typeface="Times New Roman"/>
              </a:rPr>
              <a:t> </a:t>
            </a:r>
            <a:r>
              <a:rPr b="1" lang="en-US" sz="3200" spc="-1" strike="noStrike">
                <a:solidFill>
                  <a:schemeClr val="lt1"/>
                </a:solidFill>
                <a:latin typeface="Times New Roman"/>
              </a:rPr>
              <a:t>AND</a:t>
            </a:r>
            <a:r>
              <a:rPr b="1" lang="en-US" sz="3200" spc="-12" strike="noStrike">
                <a:solidFill>
                  <a:schemeClr val="lt1"/>
                </a:solidFill>
                <a:latin typeface="Times New Roman"/>
              </a:rPr>
              <a:t> </a:t>
            </a:r>
            <a:r>
              <a:rPr b="1" lang="en-US" sz="3200" spc="-1" strike="noStrike">
                <a:solidFill>
                  <a:schemeClr val="lt1"/>
                </a:solidFill>
                <a:latin typeface="Times New Roman"/>
              </a:rPr>
              <a:t>ITS</a:t>
            </a:r>
            <a:r>
              <a:rPr b="1" lang="en-US" sz="3200" spc="-26" strike="noStrike">
                <a:solidFill>
                  <a:schemeClr val="lt1"/>
                </a:solidFill>
                <a:latin typeface="Times New Roman"/>
              </a:rPr>
              <a:t> </a:t>
            </a:r>
            <a:r>
              <a:rPr b="1" lang="en-US" sz="3200" spc="-12" strike="noStrike">
                <a:solidFill>
                  <a:schemeClr val="lt1"/>
                </a:solidFill>
                <a:latin typeface="Times New Roman"/>
              </a:rPr>
              <a:t>ADVANTAGES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object 15"/>
          <p:cNvSpPr/>
          <p:nvPr/>
        </p:nvSpPr>
        <p:spPr>
          <a:xfrm>
            <a:off x="180360" y="1312560"/>
            <a:ext cx="4258440" cy="13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3360" bIns="0" anchor="t">
            <a:spAutoFit/>
          </a:bodyPr>
          <a:p>
            <a:pPr marL="12600">
              <a:lnSpc>
                <a:spcPct val="100000"/>
              </a:lnSpc>
              <a:spcBef>
                <a:spcPts val="499"/>
              </a:spcBef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Proposed</a:t>
            </a:r>
            <a:r>
              <a:rPr b="1" lang="en-US" sz="20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Times New Roman"/>
              </a:rPr>
              <a:t>Work: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03480" indent="-936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95000"/>
              <a:buFont typeface="Symbol" charset="2"/>
              <a:buChar char=""/>
              <a:tabLst>
                <a:tab algn="l" pos="3913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Connect</a:t>
            </a:r>
            <a:r>
              <a:rPr b="0" lang="en-US" sz="20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each</a:t>
            </a:r>
            <a:r>
              <a:rPr b="0" lang="en-US" sz="20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hospital's</a:t>
            </a:r>
            <a:r>
              <a:rPr b="0" lang="en-US" sz="2000" spc="-4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existing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management</a:t>
            </a:r>
            <a:r>
              <a:rPr b="0" lang="en-US" sz="20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system</a:t>
            </a:r>
            <a:r>
              <a:rPr b="0" lang="en-US" sz="2000" spc="-4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to</a:t>
            </a:r>
            <a:r>
              <a:rPr b="0" lang="en-US" sz="20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</a:t>
            </a:r>
            <a:r>
              <a:rPr b="0" lang="en-US" sz="20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central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capacity</a:t>
            </a:r>
            <a:r>
              <a:rPr b="0" lang="en-US" sz="20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platform</a:t>
            </a:r>
            <a:r>
              <a:rPr b="0" lang="en-US" sz="2000" spc="-5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via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lightweight</a:t>
            </a:r>
            <a:r>
              <a:rPr b="0" lang="en-US" sz="2000" spc="-4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Times New Roman"/>
              </a:rPr>
              <a:t>APIs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object 16"/>
          <p:cNvSpPr/>
          <p:nvPr/>
        </p:nvSpPr>
        <p:spPr>
          <a:xfrm>
            <a:off x="4651200" y="1381320"/>
            <a:ext cx="13845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en-US" sz="2000" spc="-12" strike="noStrike">
                <a:solidFill>
                  <a:srgbClr val="000000"/>
                </a:solidFill>
                <a:latin typeface="Times New Roman"/>
              </a:rPr>
              <a:t>Advantages: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object 19"/>
          <p:cNvSpPr/>
          <p:nvPr/>
        </p:nvSpPr>
        <p:spPr>
          <a:xfrm>
            <a:off x="4824720" y="1924920"/>
            <a:ext cx="288252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indent="-100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SzPct val="94000"/>
              <a:buFont typeface="Symbol" charset="2"/>
              <a:buChar char=""/>
              <a:tabLst>
                <a:tab algn="l" pos="914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Cuts</a:t>
            </a:r>
            <a:r>
              <a:rPr b="0" lang="en-US" sz="1800" spc="38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ambulance-to-hospital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placement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time</a:t>
            </a:r>
            <a:r>
              <a:rPr b="0" lang="en-US" sz="18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significantly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object 17"/>
          <p:cNvSpPr/>
          <p:nvPr/>
        </p:nvSpPr>
        <p:spPr>
          <a:xfrm>
            <a:off x="471240" y="2937960"/>
            <a:ext cx="3736080" cy="9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 indent="-936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SzPct val="95000"/>
              <a:buFont typeface="Symbol" charset="2"/>
              <a:buChar char=""/>
              <a:tabLst>
                <a:tab algn="l" pos="10044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Provide</a:t>
            </a:r>
            <a:r>
              <a:rPr b="0" lang="en-US" sz="2000" spc="-60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simple</a:t>
            </a:r>
            <a:r>
              <a:rPr b="0" lang="en-US" sz="20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manual</a:t>
            </a:r>
            <a:r>
              <a:rPr b="0" lang="en-US" sz="20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dashboard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for</a:t>
            </a:r>
            <a:r>
              <a:rPr b="0" lang="en-US" sz="20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hospitals</a:t>
            </a:r>
            <a:r>
              <a:rPr b="0" lang="en-US" sz="2000" spc="-3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without</a:t>
            </a:r>
            <a:r>
              <a:rPr b="0" lang="en-US" sz="20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compatible software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object 20"/>
          <p:cNvSpPr/>
          <p:nvPr/>
        </p:nvSpPr>
        <p:spPr>
          <a:xfrm>
            <a:off x="4824720" y="2747880"/>
            <a:ext cx="367956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91440" indent="-889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SzPct val="94000"/>
              <a:buFont typeface="Symbol" charset="2"/>
              <a:buChar char=""/>
              <a:tabLst>
                <a:tab algn="l" pos="914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Replaces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manual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phone-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call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tabLst>
                <a:tab algn="l" pos="914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coordination</a:t>
            </a:r>
            <a:r>
              <a:rPr b="0" lang="en-US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with</a:t>
            </a:r>
            <a:r>
              <a:rPr b="0" lang="en-US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instant,</a:t>
            </a:r>
            <a:r>
              <a:rPr b="0" lang="en-US" sz="1800" spc="-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live</a:t>
            </a:r>
            <a:r>
              <a:rPr b="0" lang="en-US" sz="1800" spc="-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lookup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object 21"/>
          <p:cNvSpPr/>
          <p:nvPr/>
        </p:nvSpPr>
        <p:spPr>
          <a:xfrm>
            <a:off x="4824720" y="3571200"/>
            <a:ext cx="335952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indent="-100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SzPct val="94000"/>
              <a:buFont typeface="Symbol" charset="2"/>
              <a:buChar char=""/>
              <a:tabLst>
                <a:tab algn="l" pos="914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Works</a:t>
            </a:r>
            <a:r>
              <a:rPr b="0" lang="en-US" sz="18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alongside</a:t>
            </a:r>
            <a:r>
              <a:rPr b="0" lang="en-US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each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hospital's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existing</a:t>
            </a:r>
            <a:r>
              <a:rPr b="0" lang="en-US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software</a:t>
            </a:r>
            <a:r>
              <a:rPr b="0" lang="en-US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</a:t>
            </a:r>
            <a:r>
              <a:rPr b="0" lang="en-US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system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replacement</a:t>
            </a:r>
            <a:r>
              <a:rPr b="0" lang="en-US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needed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object 18"/>
          <p:cNvSpPr/>
          <p:nvPr/>
        </p:nvSpPr>
        <p:spPr>
          <a:xfrm>
            <a:off x="471240" y="4157640"/>
            <a:ext cx="3829320" cy="9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indent="-936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SzPct val="95000"/>
              <a:buFont typeface="Symbol" charset="2"/>
              <a:buChar char=""/>
              <a:tabLst>
                <a:tab algn="l" pos="10044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Surface</a:t>
            </a:r>
            <a:r>
              <a:rPr b="0" lang="en-US" sz="2000" spc="-4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live bed,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ICU,</a:t>
            </a:r>
            <a:r>
              <a:rPr b="0" lang="en-US" sz="20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and</a:t>
            </a:r>
            <a:r>
              <a:rPr b="0" lang="en-US" sz="2000" spc="4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specialist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availability</a:t>
            </a:r>
            <a:r>
              <a:rPr b="0" lang="en-US" sz="2000" spc="-5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to</a:t>
            </a:r>
            <a:r>
              <a:rPr b="0" lang="en-US" sz="20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citizens,</a:t>
            </a:r>
            <a:r>
              <a:rPr b="0" lang="en-US" sz="20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ambulances,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and</a:t>
            </a:r>
            <a:r>
              <a:rPr b="0" lang="en-US" sz="20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government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object 22"/>
          <p:cNvSpPr/>
          <p:nvPr/>
        </p:nvSpPr>
        <p:spPr>
          <a:xfrm>
            <a:off x="4824720" y="4668840"/>
            <a:ext cx="365796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indent="-100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SzPct val="94000"/>
              <a:buFont typeface="Symbol" charset="2"/>
              <a:buChar char=""/>
              <a:tabLst>
                <a:tab algn="l" pos="914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Scales</a:t>
            </a:r>
            <a:r>
              <a:rPr b="0" lang="en-US" sz="180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as</a:t>
            </a:r>
            <a:r>
              <a:rPr b="0" lang="en-US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per-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facility</a:t>
            </a:r>
            <a:r>
              <a:rPr b="0" lang="en-US" sz="180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government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or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 hospital-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network</a:t>
            </a:r>
            <a:r>
              <a:rPr b="0" lang="en-US" sz="1800" spc="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subscription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8" name="object 7"/>
          <p:cNvGrpSpPr/>
          <p:nvPr/>
        </p:nvGrpSpPr>
        <p:grpSpPr>
          <a:xfrm>
            <a:off x="0" y="6026040"/>
            <a:ext cx="9144000" cy="831600"/>
            <a:chOff x="0" y="6026040"/>
            <a:chExt cx="9144000" cy="831600"/>
          </a:xfrm>
        </p:grpSpPr>
        <p:pic>
          <p:nvPicPr>
            <p:cNvPr id="179" name="object 8" descr=""/>
            <p:cNvPicPr/>
            <p:nvPr/>
          </p:nvPicPr>
          <p:blipFill>
            <a:blip r:embed="rId3"/>
            <a:stretch/>
          </p:blipFill>
          <p:spPr>
            <a:xfrm>
              <a:off x="2910240" y="6120720"/>
              <a:ext cx="3332520" cy="638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0" name="object 9" descr=""/>
            <p:cNvPicPr/>
            <p:nvPr/>
          </p:nvPicPr>
          <p:blipFill>
            <a:blip r:embed="rId4"/>
            <a:stretch/>
          </p:blipFill>
          <p:spPr>
            <a:xfrm>
              <a:off x="6198120" y="6026040"/>
              <a:ext cx="2945520" cy="83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1" name="object 10" descr=""/>
            <p:cNvPicPr/>
            <p:nvPr/>
          </p:nvPicPr>
          <p:blipFill>
            <a:blip r:embed="rId5"/>
            <a:stretch/>
          </p:blipFill>
          <p:spPr>
            <a:xfrm>
              <a:off x="6268320" y="6073200"/>
              <a:ext cx="2875320" cy="77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82" name="object 11"/>
            <p:cNvSpPr/>
            <p:nvPr/>
          </p:nvSpPr>
          <p:spPr>
            <a:xfrm>
              <a:off x="6268320" y="6073200"/>
              <a:ext cx="2875680" cy="772560"/>
            </a:xfrm>
            <a:custGeom>
              <a:avLst/>
              <a:gdLst>
                <a:gd name="textAreaLeft" fmla="*/ 0 w 2875680"/>
                <a:gd name="textAreaRight" fmla="*/ 2876040 w 2875680"/>
                <a:gd name="textAreaTop" fmla="*/ 0 h 772560"/>
                <a:gd name="textAreaBottom" fmla="*/ 772920 h 772560"/>
              </a:gdLst>
              <a:ahLst/>
              <a:rect l="textAreaLeft" t="textAreaTop" r="textAreaRight" b="textAreaBottom"/>
              <a:pathLst>
                <a:path w="2875915" h="772795">
                  <a:moveTo>
                    <a:pt x="0" y="772668"/>
                  </a:moveTo>
                  <a:lnTo>
                    <a:pt x="2875788" y="772668"/>
                  </a:lnTo>
                  <a:lnTo>
                    <a:pt x="2875788" y="0"/>
                  </a:lnTo>
                  <a:lnTo>
                    <a:pt x="0" y="0"/>
                  </a:lnTo>
                  <a:lnTo>
                    <a:pt x="0" y="772668"/>
                  </a:lnTo>
                  <a:close/>
                </a:path>
              </a:pathLst>
            </a:custGeom>
            <a:noFill/>
            <a:ln w="9144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83" name="object 12" descr=""/>
            <p:cNvPicPr/>
            <p:nvPr/>
          </p:nvPicPr>
          <p:blipFill>
            <a:blip r:embed="rId6"/>
            <a:stretch/>
          </p:blipFill>
          <p:spPr>
            <a:xfrm>
              <a:off x="0" y="6026040"/>
              <a:ext cx="2918160" cy="83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4" name="object 13" descr=""/>
            <p:cNvPicPr/>
            <p:nvPr/>
          </p:nvPicPr>
          <p:blipFill>
            <a:blip r:embed="rId7"/>
            <a:stretch/>
          </p:blipFill>
          <p:spPr>
            <a:xfrm>
              <a:off x="0" y="6073200"/>
              <a:ext cx="2852640" cy="77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85" name="object 14"/>
            <p:cNvSpPr/>
            <p:nvPr/>
          </p:nvSpPr>
          <p:spPr>
            <a:xfrm>
              <a:off x="0" y="6073200"/>
              <a:ext cx="2852640" cy="772560"/>
            </a:xfrm>
            <a:custGeom>
              <a:avLst/>
              <a:gdLst>
                <a:gd name="textAreaLeft" fmla="*/ 0 w 2852640"/>
                <a:gd name="textAreaRight" fmla="*/ 2853000 w 2852640"/>
                <a:gd name="textAreaTop" fmla="*/ 0 h 772560"/>
                <a:gd name="textAreaBottom" fmla="*/ 772920 h 772560"/>
              </a:gdLst>
              <a:ahLst/>
              <a:rect l="textAreaLeft" t="textAreaTop" r="textAreaRight" b="textAreaBottom"/>
              <a:pathLst>
                <a:path w="2853055" h="772795">
                  <a:moveTo>
                    <a:pt x="0" y="772668"/>
                  </a:moveTo>
                  <a:lnTo>
                    <a:pt x="2852928" y="772668"/>
                  </a:lnTo>
                  <a:lnTo>
                    <a:pt x="2852928" y="0"/>
                  </a:lnTo>
                  <a:lnTo>
                    <a:pt x="0" y="0"/>
                  </a:lnTo>
                </a:path>
              </a:pathLst>
            </a:custGeom>
            <a:noFill/>
            <a:ln w="9144">
              <a:solidFill>
                <a:srgbClr val="97b85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6" name="PlaceHolder 2"/>
          <p:cNvSpPr>
            <a:spLocks noGrp="1"/>
          </p:cNvSpPr>
          <p:nvPr>
            <p:ph type="sldNum" idx="19"/>
          </p:nvPr>
        </p:nvSpPr>
        <p:spPr>
          <a:xfrm>
            <a:off x="7386120" y="6328440"/>
            <a:ext cx="755280" cy="3985200"/>
          </a:xfrm>
          <a:prstGeom prst="rect">
            <a:avLst/>
          </a:prstGeom>
          <a:noFill/>
          <a:ln w="0">
            <a:noFill/>
          </a:ln>
        </p:spPr>
        <p:txBody>
          <a:bodyPr lIns="0" rIns="0" tIns="7560" bIns="0" anchor="t">
            <a:noAutofit/>
          </a:bodyPr>
          <a:lstStyle>
            <a:lvl1pPr marL="12600" indent="0">
              <a:lnSpc>
                <a:spcPct val="100000"/>
              </a:lnSpc>
              <a:spcBef>
                <a:spcPts val="60"/>
              </a:spcBef>
              <a:buNone/>
              <a:defRPr b="0" lang="en-US" sz="1800" spc="-1" strike="noStrike">
                <a:solidFill>
                  <a:schemeClr val="lt1"/>
                </a:solidFill>
                <a:latin typeface="Times New Roman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60"/>
              </a:spcBef>
              <a:buNone/>
            </a:pPr>
            <a:r>
              <a:rPr b="0" lang="en-US" sz="1800" spc="-1" strike="noStrike">
                <a:solidFill>
                  <a:schemeClr val="lt1"/>
                </a:solidFill>
                <a:latin typeface="Times New Roman"/>
              </a:rPr>
              <a:t>Page</a:t>
            </a:r>
            <a:r>
              <a:rPr b="0" lang="en-US" sz="1800" spc="-35" strike="noStrike">
                <a:solidFill>
                  <a:schemeClr val="lt1"/>
                </a:solidFill>
                <a:latin typeface="Times New Roman"/>
              </a:rPr>
              <a:t> </a:t>
            </a:r>
            <a:r>
              <a:rPr b="0" lang="en-US" sz="1800" spc="-52" strike="noStrike">
                <a:solidFill>
                  <a:schemeClr val="lt1"/>
                </a:solidFill>
                <a:latin typeface="Times New Roman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685080" y="6172200"/>
            <a:ext cx="1829520" cy="54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MedMesh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object 3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11880"/>
          </a:xfrm>
          <a:prstGeom prst="rect">
            <a:avLst/>
          </a:prstGeom>
          <a:ln w="0">
            <a:noFill/>
          </a:ln>
        </p:spPr>
      </p:pic>
      <p:pic>
        <p:nvPicPr>
          <p:cNvPr id="189" name="object 2" descr=""/>
          <p:cNvPicPr/>
          <p:nvPr/>
        </p:nvPicPr>
        <p:blipFill>
          <a:blip r:embed="rId2"/>
          <a:stretch/>
        </p:blipFill>
        <p:spPr>
          <a:xfrm>
            <a:off x="0" y="804600"/>
            <a:ext cx="9143640" cy="79920"/>
          </a:xfrm>
          <a:prstGeom prst="rect">
            <a:avLst/>
          </a:prstGeom>
          <a:ln w="0">
            <a:noFill/>
          </a:ln>
        </p:spPr>
      </p:pic>
      <p:grpSp>
        <p:nvGrpSpPr>
          <p:cNvPr id="190" name="object 4"/>
          <p:cNvGrpSpPr/>
          <p:nvPr/>
        </p:nvGrpSpPr>
        <p:grpSpPr>
          <a:xfrm>
            <a:off x="0" y="12240"/>
            <a:ext cx="9143640" cy="968760"/>
            <a:chOff x="0" y="12240"/>
            <a:chExt cx="9143640" cy="968760"/>
          </a:xfrm>
        </p:grpSpPr>
        <p:pic>
          <p:nvPicPr>
            <p:cNvPr id="191" name="object 5" descr=""/>
            <p:cNvPicPr/>
            <p:nvPr/>
          </p:nvPicPr>
          <p:blipFill>
            <a:blip r:embed="rId3"/>
            <a:stretch/>
          </p:blipFill>
          <p:spPr>
            <a:xfrm>
              <a:off x="3232440" y="804600"/>
              <a:ext cx="2671200" cy="1764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92" name="object 6" descr=""/>
            <p:cNvPicPr/>
            <p:nvPr/>
          </p:nvPicPr>
          <p:blipFill>
            <a:blip r:embed="rId4"/>
            <a:stretch/>
          </p:blipFill>
          <p:spPr>
            <a:xfrm>
              <a:off x="0" y="12240"/>
              <a:ext cx="9143640" cy="792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3" name="object 7"/>
            <p:cNvSpPr/>
            <p:nvPr/>
          </p:nvSpPr>
          <p:spPr>
            <a:xfrm>
              <a:off x="0" y="12240"/>
              <a:ext cx="9143640" cy="79200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792000"/>
                <a:gd name="textAreaBottom" fmla="*/ 792360 h 792000"/>
              </a:gdLst>
              <a:ahLst/>
              <a:rect l="textAreaLeft" t="textAreaTop" r="textAreaRight" b="textAreaBottom"/>
              <a:pathLst>
                <a:path w="9144000" h="792480">
                  <a:moveTo>
                    <a:pt x="0" y="792479"/>
                  </a:moveTo>
                  <a:lnTo>
                    <a:pt x="9144000" y="79247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92479"/>
                  </a:lnTo>
                  <a:close/>
                </a:path>
              </a:pathLst>
            </a:custGeom>
            <a:noFill/>
            <a:ln w="9144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219600" y="126000"/>
            <a:ext cx="870444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33228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3200" spc="-12" strike="noStrike">
                <a:solidFill>
                  <a:schemeClr val="lt1"/>
                </a:solidFill>
                <a:latin typeface="Times New Roman"/>
              </a:rPr>
              <a:t>MODULES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533160" y="1731240"/>
            <a:ext cx="8077680" cy="390060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5120" indent="-936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SzPct val="95000"/>
              <a:buFont typeface="Times New Roman"/>
              <a:buChar char="•"/>
              <a:tabLst>
                <a:tab algn="l" pos="10296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1" lang="en-US" sz="2000" spc="-1" strike="noStrike">
                <a:solidFill>
                  <a:schemeClr val="dk1"/>
                </a:solidFill>
                <a:latin typeface="Times New Roman"/>
              </a:rPr>
              <a:t>Data</a:t>
            </a:r>
            <a:r>
              <a:rPr b="1" lang="en-US" sz="2000" spc="429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1" lang="en-US" sz="2000" spc="-1" strike="noStrike">
                <a:solidFill>
                  <a:schemeClr val="dk1"/>
                </a:solidFill>
                <a:latin typeface="Times New Roman"/>
              </a:rPr>
              <a:t>Ingestion</a:t>
            </a:r>
            <a:r>
              <a:rPr b="1" lang="en-US" sz="2000" spc="423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1" lang="en-US" sz="2000" spc="-1" strike="noStrike">
                <a:solidFill>
                  <a:schemeClr val="dk1"/>
                </a:solidFill>
                <a:latin typeface="Times New Roman"/>
              </a:rPr>
              <a:t>Module</a:t>
            </a:r>
            <a:r>
              <a:rPr b="1" lang="en-US" sz="2000" spc="429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–</a:t>
            </a:r>
            <a:r>
              <a:rPr b="0" lang="en-US" sz="2000" spc="412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Pulls</a:t>
            </a:r>
            <a:r>
              <a:rPr b="0" lang="en-US" sz="2000" spc="418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bed,</a:t>
            </a:r>
            <a:r>
              <a:rPr b="0" lang="en-US" sz="2000" spc="432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ICU,</a:t>
            </a:r>
            <a:r>
              <a:rPr b="0" lang="en-US" sz="2000" spc="437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and</a:t>
            </a:r>
            <a:r>
              <a:rPr b="0" lang="en-US" sz="2000" spc="423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ventilator</a:t>
            </a:r>
            <a:r>
              <a:rPr b="0" lang="en-US" sz="2000" spc="437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data</a:t>
            </a:r>
            <a:r>
              <a:rPr b="0" lang="en-US" sz="2000" spc="412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from</a:t>
            </a:r>
            <a:r>
              <a:rPr b="0" lang="en-US" sz="2000" spc="406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21" strike="noStrike">
                <a:solidFill>
                  <a:schemeClr val="dk1"/>
                </a:solidFill>
                <a:latin typeface="Times New Roman"/>
              </a:rPr>
              <a:t>each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hospital's</a:t>
            </a:r>
            <a:r>
              <a:rPr b="0" lang="en-US" sz="2000" spc="-55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existing</a:t>
            </a:r>
            <a:r>
              <a:rPr b="0" lang="en-US" sz="2000" spc="-46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management</a:t>
            </a:r>
            <a:r>
              <a:rPr b="0" lang="en-US" sz="2000" spc="-21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chemeClr val="dk1"/>
                </a:solidFill>
                <a:latin typeface="Times New Roman"/>
              </a:rPr>
              <a:t>system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96"/>
              </a:spcBef>
              <a:buNone/>
              <a:tabLst>
                <a:tab algn="l" pos="102960"/>
              </a:tabLst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102960" indent="-97200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SzPct val="95000"/>
              <a:buFont typeface="Times New Roman"/>
              <a:buChar char="•"/>
              <a:tabLst>
                <a:tab algn="l" pos="10296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Times New Roman"/>
              </a:rPr>
              <a:t>Data</a:t>
            </a:r>
            <a:r>
              <a:rPr b="1" lang="en-US" sz="2000" spc="52" strike="noStrike">
                <a:solidFill>
                  <a:schemeClr val="dk1"/>
                </a:solidFill>
                <a:latin typeface="Times New Roman"/>
              </a:rPr>
              <a:t>  </a:t>
            </a:r>
            <a:r>
              <a:rPr b="1" lang="en-US" sz="2000" spc="-1" strike="noStrike">
                <a:solidFill>
                  <a:schemeClr val="dk1"/>
                </a:solidFill>
                <a:latin typeface="Times New Roman"/>
              </a:rPr>
              <a:t>Quality</a:t>
            </a:r>
            <a:r>
              <a:rPr b="1" lang="en-US" sz="2000" spc="49" strike="noStrike">
                <a:solidFill>
                  <a:schemeClr val="dk1"/>
                </a:solidFill>
                <a:latin typeface="Times New Roman"/>
              </a:rPr>
              <a:t>  </a:t>
            </a:r>
            <a:r>
              <a:rPr b="1" lang="en-US" sz="2000" spc="-1" strike="noStrike">
                <a:solidFill>
                  <a:schemeClr val="dk1"/>
                </a:solidFill>
                <a:latin typeface="Times New Roman"/>
              </a:rPr>
              <a:t>&amp;</a:t>
            </a:r>
            <a:r>
              <a:rPr b="1" lang="en-US" sz="2000" spc="52" strike="noStrike">
                <a:solidFill>
                  <a:schemeClr val="dk1"/>
                </a:solidFill>
                <a:latin typeface="Times New Roman"/>
              </a:rPr>
              <a:t>  </a:t>
            </a:r>
            <a:r>
              <a:rPr b="1" lang="en-US" sz="2000" spc="-1" strike="noStrike">
                <a:solidFill>
                  <a:schemeClr val="dk1"/>
                </a:solidFill>
                <a:latin typeface="Times New Roman"/>
              </a:rPr>
              <a:t>Trust</a:t>
            </a:r>
            <a:r>
              <a:rPr b="1" lang="en-US" sz="2000" spc="52" strike="noStrike">
                <a:solidFill>
                  <a:schemeClr val="dk1"/>
                </a:solidFill>
                <a:latin typeface="Times New Roman"/>
              </a:rPr>
              <a:t>  </a:t>
            </a:r>
            <a:r>
              <a:rPr b="1" lang="en-US" sz="2000" spc="-1" strike="noStrike">
                <a:solidFill>
                  <a:schemeClr val="dk1"/>
                </a:solidFill>
                <a:latin typeface="Times New Roman"/>
              </a:rPr>
              <a:t>Module</a:t>
            </a:r>
            <a:r>
              <a:rPr b="1" lang="en-US" sz="2000" spc="43" strike="noStrike">
                <a:solidFill>
                  <a:schemeClr val="dk1"/>
                </a:solidFill>
                <a:latin typeface="Times New Roman"/>
              </a:rPr>
              <a:t> 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–</a:t>
            </a:r>
            <a:r>
              <a:rPr b="0" lang="en-US" sz="2000" spc="58" strike="noStrike">
                <a:solidFill>
                  <a:schemeClr val="dk1"/>
                </a:solidFill>
                <a:latin typeface="Times New Roman"/>
              </a:rPr>
              <a:t> 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Flags</a:t>
            </a:r>
            <a:r>
              <a:rPr b="0" lang="en-US" sz="2000" spc="52" strike="noStrike">
                <a:solidFill>
                  <a:schemeClr val="dk1"/>
                </a:solidFill>
                <a:latin typeface="Times New Roman"/>
              </a:rPr>
              <a:t> 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stale</a:t>
            </a:r>
            <a:r>
              <a:rPr b="0" lang="en-US" sz="2000" spc="49" strike="noStrike">
                <a:solidFill>
                  <a:schemeClr val="dk1"/>
                </a:solidFill>
                <a:latin typeface="Times New Roman"/>
              </a:rPr>
              <a:t> 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or</a:t>
            </a:r>
            <a:r>
              <a:rPr b="0" lang="en-US" sz="2000" spc="52" strike="noStrike">
                <a:solidFill>
                  <a:schemeClr val="dk1"/>
                </a:solidFill>
                <a:latin typeface="Times New Roman"/>
              </a:rPr>
              <a:t> 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unverified</a:t>
            </a:r>
            <a:r>
              <a:rPr b="0" lang="en-US" sz="2000" spc="58" strike="noStrike">
                <a:solidFill>
                  <a:schemeClr val="dk1"/>
                </a:solidFill>
                <a:latin typeface="Times New Roman"/>
              </a:rPr>
              <a:t> 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updates</a:t>
            </a:r>
            <a:r>
              <a:rPr b="0" lang="en-US" sz="2000" spc="52" strike="noStrike">
                <a:solidFill>
                  <a:schemeClr val="dk1"/>
                </a:solidFill>
                <a:latin typeface="Times New Roman"/>
              </a:rPr>
              <a:t>  </a:t>
            </a:r>
            <a:r>
              <a:rPr b="0" lang="en-US" sz="2000" spc="-26" strike="noStrike">
                <a:solidFill>
                  <a:schemeClr val="dk1"/>
                </a:solidFill>
                <a:latin typeface="Times New Roman"/>
              </a:rPr>
              <a:t>so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15120" indent="0">
              <a:lnSpc>
                <a:spcPct val="100000"/>
              </a:lnSpc>
              <a:buNone/>
              <a:tabLst>
                <a:tab algn="l" pos="10296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responders</a:t>
            </a:r>
            <a:r>
              <a:rPr b="0" lang="en-US" sz="2000" spc="-46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can</a:t>
            </a:r>
            <a:r>
              <a:rPr b="0" lang="en-US" sz="2000" spc="-12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trust</a:t>
            </a:r>
            <a:r>
              <a:rPr b="0" lang="en-US" sz="2000" spc="-26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what</a:t>
            </a:r>
            <a:r>
              <a:rPr b="0" lang="en-US" sz="2000" spc="-21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they</a:t>
            </a:r>
            <a:r>
              <a:rPr b="0" lang="en-US" sz="2000" spc="-21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26" strike="noStrike">
                <a:solidFill>
                  <a:schemeClr val="dk1"/>
                </a:solidFill>
                <a:latin typeface="Times New Roman"/>
              </a:rPr>
              <a:t>see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52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102960"/>
              </a:tabLst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15120" indent="-9360">
              <a:lnSpc>
                <a:spcPct val="100000"/>
              </a:lnSpc>
              <a:buClr>
                <a:srgbClr val="000000"/>
              </a:buClr>
              <a:buSzPct val="95000"/>
              <a:buFont typeface="Times New Roman"/>
              <a:buChar char="•"/>
              <a:tabLst>
                <a:tab algn="l" pos="10296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1" lang="en-US" sz="2000" spc="-1" strike="noStrike">
                <a:solidFill>
                  <a:schemeClr val="dk1"/>
                </a:solidFill>
                <a:latin typeface="Times New Roman"/>
              </a:rPr>
              <a:t>Matching</a:t>
            </a:r>
            <a:r>
              <a:rPr b="1" lang="en-US" sz="2000" spc="137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1" lang="en-US" sz="2000" spc="-1" strike="noStrike">
                <a:solidFill>
                  <a:schemeClr val="dk1"/>
                </a:solidFill>
                <a:latin typeface="Times New Roman"/>
              </a:rPr>
              <a:t>&amp;</a:t>
            </a:r>
            <a:r>
              <a:rPr b="1" lang="en-US" sz="2000" spc="128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1" lang="en-US" sz="2000" spc="-1" strike="noStrike">
                <a:solidFill>
                  <a:schemeClr val="dk1"/>
                </a:solidFill>
                <a:latin typeface="Times New Roman"/>
              </a:rPr>
              <a:t>Routing</a:t>
            </a:r>
            <a:r>
              <a:rPr b="1" lang="en-US" sz="2000" spc="137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1" lang="en-US" sz="2000" spc="-1" strike="noStrike">
                <a:solidFill>
                  <a:schemeClr val="dk1"/>
                </a:solidFill>
                <a:latin typeface="Times New Roman"/>
              </a:rPr>
              <a:t>Module</a:t>
            </a:r>
            <a:r>
              <a:rPr b="1" lang="en-US" sz="2000" spc="134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–</a:t>
            </a:r>
            <a:r>
              <a:rPr b="0" lang="en-US" sz="2000" spc="148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Filters</a:t>
            </a:r>
            <a:r>
              <a:rPr b="0" lang="en-US" sz="2000" spc="137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hospitals</a:t>
            </a:r>
            <a:r>
              <a:rPr b="0" lang="en-US" sz="2000" spc="134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by</a:t>
            </a:r>
            <a:r>
              <a:rPr b="0" lang="en-US" sz="2000" spc="137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specialty,</a:t>
            </a:r>
            <a:r>
              <a:rPr b="0" lang="en-US" sz="2000" spc="143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distance,</a:t>
            </a:r>
            <a:r>
              <a:rPr b="0" lang="en-US" sz="2000" spc="148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26" strike="noStrike">
                <a:solidFill>
                  <a:schemeClr val="dk1"/>
                </a:solidFill>
                <a:latin typeface="Times New Roman"/>
              </a:rPr>
              <a:t>and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capacity</a:t>
            </a:r>
            <a:r>
              <a:rPr b="0" lang="en-US" sz="2000" spc="-26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for</a:t>
            </a:r>
            <a:r>
              <a:rPr b="0" lang="en-US" sz="2000" spc="-35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ambulance</a:t>
            </a:r>
            <a:r>
              <a:rPr b="0" lang="en-US" sz="2000" spc="-15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chemeClr val="dk1"/>
                </a:solidFill>
                <a:latin typeface="Times New Roman"/>
              </a:rPr>
              <a:t>dispatch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99"/>
              </a:spcBef>
              <a:buNone/>
              <a:tabLst>
                <a:tab algn="l" pos="102960"/>
              </a:tabLst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15120" indent="-9360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SzPct val="95000"/>
              <a:buFont typeface="Times New Roman"/>
              <a:buChar char="•"/>
              <a:tabLst>
                <a:tab algn="l" pos="10296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1" lang="en-US" sz="2000" spc="-1" strike="noStrike">
                <a:solidFill>
                  <a:schemeClr val="dk1"/>
                </a:solidFill>
                <a:latin typeface="Times New Roman"/>
              </a:rPr>
              <a:t>Government</a:t>
            </a:r>
            <a:r>
              <a:rPr b="1" lang="en-US" sz="2000" spc="9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1" lang="en-US" sz="2000" spc="-1" strike="noStrike">
                <a:solidFill>
                  <a:schemeClr val="dk1"/>
                </a:solidFill>
                <a:latin typeface="Times New Roman"/>
              </a:rPr>
              <a:t>Analytics</a:t>
            </a:r>
            <a:r>
              <a:rPr b="1" lang="en-US" sz="2000" spc="9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1" lang="en-US" sz="2000" spc="-1" strike="noStrike">
                <a:solidFill>
                  <a:schemeClr val="dk1"/>
                </a:solidFill>
                <a:latin typeface="Times New Roman"/>
              </a:rPr>
              <a:t>Module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–</a:t>
            </a:r>
            <a:r>
              <a:rPr b="0" lang="en-US" sz="2000" spc="24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Aggregates</a:t>
            </a:r>
            <a:r>
              <a:rPr b="0" lang="en-US" sz="2000" spc="12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chemeClr val="dk1"/>
                </a:solidFill>
                <a:latin typeface="Times New Roman"/>
              </a:rPr>
              <a:t>district-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level</a:t>
            </a:r>
            <a:r>
              <a:rPr b="0" lang="en-US" sz="2000" spc="12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occupancy</a:t>
            </a:r>
            <a:r>
              <a:rPr b="0" lang="en-US" sz="2000" spc="12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chemeClr val="dk1"/>
                </a:solidFill>
                <a:latin typeface="Times New Roman"/>
              </a:rPr>
              <a:t>trends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for</a:t>
            </a:r>
            <a:r>
              <a:rPr b="0" lang="en-US" sz="2000" spc="-41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health</a:t>
            </a:r>
            <a:r>
              <a:rPr b="0" lang="en-US" sz="2000" spc="-32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department</a:t>
            </a:r>
            <a:r>
              <a:rPr b="0" lang="en-US" sz="2000" spc="-26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chemeClr val="dk1"/>
                </a:solidFill>
                <a:latin typeface="Times New Roman"/>
              </a:rPr>
              <a:t>dashboards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96" name="object 9"/>
          <p:cNvGrpSpPr/>
          <p:nvPr/>
        </p:nvGrpSpPr>
        <p:grpSpPr>
          <a:xfrm>
            <a:off x="0" y="6026040"/>
            <a:ext cx="9144000" cy="831600"/>
            <a:chOff x="0" y="6026040"/>
            <a:chExt cx="9144000" cy="831600"/>
          </a:xfrm>
        </p:grpSpPr>
        <p:pic>
          <p:nvPicPr>
            <p:cNvPr id="197" name="object 10" descr=""/>
            <p:cNvPicPr/>
            <p:nvPr/>
          </p:nvPicPr>
          <p:blipFill>
            <a:blip r:embed="rId5"/>
            <a:stretch/>
          </p:blipFill>
          <p:spPr>
            <a:xfrm>
              <a:off x="2910240" y="6120720"/>
              <a:ext cx="3332520" cy="638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98" name="object 11" descr=""/>
            <p:cNvPicPr/>
            <p:nvPr/>
          </p:nvPicPr>
          <p:blipFill>
            <a:blip r:embed="rId6"/>
            <a:stretch/>
          </p:blipFill>
          <p:spPr>
            <a:xfrm>
              <a:off x="6198120" y="6026040"/>
              <a:ext cx="2945520" cy="83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99" name="object 12" descr=""/>
            <p:cNvPicPr/>
            <p:nvPr/>
          </p:nvPicPr>
          <p:blipFill>
            <a:blip r:embed="rId7"/>
            <a:stretch/>
          </p:blipFill>
          <p:spPr>
            <a:xfrm>
              <a:off x="6268320" y="6073200"/>
              <a:ext cx="2875320" cy="77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0" name="object 13"/>
            <p:cNvSpPr/>
            <p:nvPr/>
          </p:nvSpPr>
          <p:spPr>
            <a:xfrm>
              <a:off x="6268320" y="6073200"/>
              <a:ext cx="2875680" cy="772560"/>
            </a:xfrm>
            <a:custGeom>
              <a:avLst/>
              <a:gdLst>
                <a:gd name="textAreaLeft" fmla="*/ 0 w 2875680"/>
                <a:gd name="textAreaRight" fmla="*/ 2876040 w 2875680"/>
                <a:gd name="textAreaTop" fmla="*/ 0 h 772560"/>
                <a:gd name="textAreaBottom" fmla="*/ 772920 h 772560"/>
              </a:gdLst>
              <a:ahLst/>
              <a:rect l="textAreaLeft" t="textAreaTop" r="textAreaRight" b="textAreaBottom"/>
              <a:pathLst>
                <a:path w="2875915" h="772795">
                  <a:moveTo>
                    <a:pt x="0" y="772668"/>
                  </a:moveTo>
                  <a:lnTo>
                    <a:pt x="2875788" y="772668"/>
                  </a:lnTo>
                  <a:lnTo>
                    <a:pt x="2875788" y="0"/>
                  </a:lnTo>
                  <a:lnTo>
                    <a:pt x="0" y="0"/>
                  </a:lnTo>
                  <a:lnTo>
                    <a:pt x="0" y="772668"/>
                  </a:lnTo>
                  <a:close/>
                </a:path>
              </a:pathLst>
            </a:custGeom>
            <a:noFill/>
            <a:ln w="9144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01" name="object 14" descr=""/>
            <p:cNvPicPr/>
            <p:nvPr/>
          </p:nvPicPr>
          <p:blipFill>
            <a:blip r:embed="rId8"/>
            <a:stretch/>
          </p:blipFill>
          <p:spPr>
            <a:xfrm>
              <a:off x="0" y="6026040"/>
              <a:ext cx="2918160" cy="83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2" name="object 15" descr=""/>
            <p:cNvPicPr/>
            <p:nvPr/>
          </p:nvPicPr>
          <p:blipFill>
            <a:blip r:embed="rId9"/>
            <a:stretch/>
          </p:blipFill>
          <p:spPr>
            <a:xfrm>
              <a:off x="0" y="6073200"/>
              <a:ext cx="2852640" cy="77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3" name="object 16"/>
            <p:cNvSpPr/>
            <p:nvPr/>
          </p:nvSpPr>
          <p:spPr>
            <a:xfrm>
              <a:off x="0" y="6073200"/>
              <a:ext cx="2852640" cy="772560"/>
            </a:xfrm>
            <a:custGeom>
              <a:avLst/>
              <a:gdLst>
                <a:gd name="textAreaLeft" fmla="*/ 0 w 2852640"/>
                <a:gd name="textAreaRight" fmla="*/ 2853000 w 2852640"/>
                <a:gd name="textAreaTop" fmla="*/ 0 h 772560"/>
                <a:gd name="textAreaBottom" fmla="*/ 772920 h 772560"/>
              </a:gdLst>
              <a:ahLst/>
              <a:rect l="textAreaLeft" t="textAreaTop" r="textAreaRight" b="textAreaBottom"/>
              <a:pathLst>
                <a:path w="2853055" h="772795">
                  <a:moveTo>
                    <a:pt x="0" y="772668"/>
                  </a:moveTo>
                  <a:lnTo>
                    <a:pt x="2852928" y="772668"/>
                  </a:lnTo>
                  <a:lnTo>
                    <a:pt x="2852928" y="0"/>
                  </a:lnTo>
                  <a:lnTo>
                    <a:pt x="0" y="0"/>
                  </a:lnTo>
                </a:path>
              </a:pathLst>
            </a:custGeom>
            <a:noFill/>
            <a:ln w="9144">
              <a:solidFill>
                <a:srgbClr val="97b85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4" name="PlaceHolder 3"/>
          <p:cNvSpPr>
            <a:spLocks noGrp="1"/>
          </p:cNvSpPr>
          <p:nvPr>
            <p:ph type="sldNum" idx="20"/>
          </p:nvPr>
        </p:nvSpPr>
        <p:spPr>
          <a:xfrm>
            <a:off x="7386120" y="6328440"/>
            <a:ext cx="755280" cy="3985200"/>
          </a:xfrm>
          <a:prstGeom prst="rect">
            <a:avLst/>
          </a:prstGeom>
          <a:noFill/>
          <a:ln w="0">
            <a:noFill/>
          </a:ln>
        </p:spPr>
        <p:txBody>
          <a:bodyPr lIns="0" rIns="0" tIns="7560" bIns="0" anchor="t">
            <a:noAutofit/>
          </a:bodyPr>
          <a:lstStyle>
            <a:lvl1pPr marL="12600" indent="0">
              <a:lnSpc>
                <a:spcPct val="100000"/>
              </a:lnSpc>
              <a:spcBef>
                <a:spcPts val="60"/>
              </a:spcBef>
              <a:buNone/>
              <a:defRPr b="0" lang="en-US" sz="1800" spc="-1" strike="noStrike">
                <a:solidFill>
                  <a:schemeClr val="lt1"/>
                </a:solidFill>
                <a:latin typeface="Times New Roman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60"/>
              </a:spcBef>
              <a:buNone/>
            </a:pPr>
            <a:r>
              <a:rPr b="0" lang="en-US" sz="1800" spc="-1" strike="noStrike">
                <a:solidFill>
                  <a:schemeClr val="lt1"/>
                </a:solidFill>
                <a:latin typeface="Times New Roman"/>
              </a:rPr>
              <a:t>Page</a:t>
            </a:r>
            <a:r>
              <a:rPr b="0" lang="en-US" sz="1800" spc="-35" strike="noStrike">
                <a:solidFill>
                  <a:schemeClr val="lt1"/>
                </a:solidFill>
                <a:latin typeface="Times New Roman"/>
              </a:rPr>
              <a:t> </a:t>
            </a:r>
            <a:r>
              <a:rPr b="0" lang="en-US" sz="1800" spc="-52" strike="noStrike">
                <a:solidFill>
                  <a:schemeClr val="lt1"/>
                </a:solidFill>
                <a:latin typeface="Times New Roman"/>
              </a:rPr>
              <a:t>6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685080" y="6172200"/>
            <a:ext cx="1829520" cy="54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MedMesh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object 10"/>
          <p:cNvGrpSpPr/>
          <p:nvPr/>
        </p:nvGrpSpPr>
        <p:grpSpPr>
          <a:xfrm>
            <a:off x="0" y="0"/>
            <a:ext cx="9143640" cy="843120"/>
            <a:chOff x="0" y="0"/>
            <a:chExt cx="9143640" cy="843120"/>
          </a:xfrm>
        </p:grpSpPr>
        <p:pic>
          <p:nvPicPr>
            <p:cNvPr id="207" name="object 11" descr=""/>
            <p:cNvPicPr/>
            <p:nvPr/>
          </p:nvPicPr>
          <p:blipFill>
            <a:blip r:embed="rId1"/>
            <a:stretch/>
          </p:blipFill>
          <p:spPr>
            <a:xfrm>
              <a:off x="0" y="771120"/>
              <a:ext cx="9143640" cy="72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8" name="object 12" descr="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9143640" cy="770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9" name="object 13"/>
            <p:cNvSpPr/>
            <p:nvPr/>
          </p:nvSpPr>
          <p:spPr>
            <a:xfrm>
              <a:off x="0" y="0"/>
              <a:ext cx="9143640" cy="771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771120"/>
                <a:gd name="textAreaBottom" fmla="*/ 771480 h 771120"/>
              </a:gdLst>
              <a:ahLst/>
              <a:rect l="textAreaLeft" t="textAreaTop" r="textAreaRight" b="textAreaBottom"/>
              <a:pathLst>
                <a:path w="9144000" h="771525">
                  <a:moveTo>
                    <a:pt x="0" y="771144"/>
                  </a:moveTo>
                  <a:lnTo>
                    <a:pt x="9144000" y="771144"/>
                  </a:lnTo>
                  <a:lnTo>
                    <a:pt x="9144000" y="0"/>
                  </a:lnTo>
                  <a:lnTo>
                    <a:pt x="0" y="0"/>
                  </a:lnTo>
                </a:path>
              </a:pathLst>
            </a:custGeom>
            <a:noFill/>
            <a:ln w="9143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219600" y="126000"/>
            <a:ext cx="870444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265572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3200" spc="-12" strike="noStrike">
                <a:solidFill>
                  <a:schemeClr val="lt1"/>
                </a:solidFill>
                <a:latin typeface="Times New Roman"/>
              </a:rPr>
              <a:t>METHODOLOGY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1" name="object 15" descr=""/>
          <p:cNvPicPr/>
          <p:nvPr/>
        </p:nvPicPr>
        <p:blipFill>
          <a:blip r:embed="rId3"/>
          <a:stretch/>
        </p:blipFill>
        <p:spPr>
          <a:xfrm>
            <a:off x="0" y="562320"/>
            <a:ext cx="9102600" cy="5172120"/>
          </a:xfrm>
          <a:prstGeom prst="rect">
            <a:avLst/>
          </a:prstGeom>
          <a:ln w="0">
            <a:noFill/>
          </a:ln>
        </p:spPr>
      </p:pic>
      <p:grpSp>
        <p:nvGrpSpPr>
          <p:cNvPr id="212" name="object 2"/>
          <p:cNvGrpSpPr/>
          <p:nvPr/>
        </p:nvGrpSpPr>
        <p:grpSpPr>
          <a:xfrm>
            <a:off x="0" y="6026040"/>
            <a:ext cx="9144000" cy="831600"/>
            <a:chOff x="0" y="6026040"/>
            <a:chExt cx="9144000" cy="831600"/>
          </a:xfrm>
        </p:grpSpPr>
        <p:pic>
          <p:nvPicPr>
            <p:cNvPr id="213" name="object 3" descr=""/>
            <p:cNvPicPr/>
            <p:nvPr/>
          </p:nvPicPr>
          <p:blipFill>
            <a:blip r:embed="rId4"/>
            <a:stretch/>
          </p:blipFill>
          <p:spPr>
            <a:xfrm>
              <a:off x="2910240" y="6120720"/>
              <a:ext cx="3332520" cy="638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14" name="object 4" descr=""/>
            <p:cNvPicPr/>
            <p:nvPr/>
          </p:nvPicPr>
          <p:blipFill>
            <a:blip r:embed="rId5"/>
            <a:stretch/>
          </p:blipFill>
          <p:spPr>
            <a:xfrm>
              <a:off x="6198120" y="6026040"/>
              <a:ext cx="2945520" cy="83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15" name="object 5" descr=""/>
            <p:cNvPicPr/>
            <p:nvPr/>
          </p:nvPicPr>
          <p:blipFill>
            <a:blip r:embed="rId6"/>
            <a:stretch/>
          </p:blipFill>
          <p:spPr>
            <a:xfrm>
              <a:off x="6268320" y="6073200"/>
              <a:ext cx="2875320" cy="77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6" name="object 6"/>
            <p:cNvSpPr/>
            <p:nvPr/>
          </p:nvSpPr>
          <p:spPr>
            <a:xfrm>
              <a:off x="6268320" y="6073200"/>
              <a:ext cx="2875680" cy="772560"/>
            </a:xfrm>
            <a:custGeom>
              <a:avLst/>
              <a:gdLst>
                <a:gd name="textAreaLeft" fmla="*/ 0 w 2875680"/>
                <a:gd name="textAreaRight" fmla="*/ 2876040 w 2875680"/>
                <a:gd name="textAreaTop" fmla="*/ 0 h 772560"/>
                <a:gd name="textAreaBottom" fmla="*/ 772920 h 772560"/>
              </a:gdLst>
              <a:ahLst/>
              <a:rect l="textAreaLeft" t="textAreaTop" r="textAreaRight" b="textAreaBottom"/>
              <a:pathLst>
                <a:path w="2875915" h="772795">
                  <a:moveTo>
                    <a:pt x="0" y="772668"/>
                  </a:moveTo>
                  <a:lnTo>
                    <a:pt x="2875788" y="772668"/>
                  </a:lnTo>
                  <a:lnTo>
                    <a:pt x="2875788" y="0"/>
                  </a:lnTo>
                  <a:lnTo>
                    <a:pt x="0" y="0"/>
                  </a:lnTo>
                  <a:lnTo>
                    <a:pt x="0" y="772668"/>
                  </a:lnTo>
                  <a:close/>
                </a:path>
              </a:pathLst>
            </a:custGeom>
            <a:noFill/>
            <a:ln w="9144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17" name="object 7" descr=""/>
            <p:cNvPicPr/>
            <p:nvPr/>
          </p:nvPicPr>
          <p:blipFill>
            <a:blip r:embed="rId7"/>
            <a:stretch/>
          </p:blipFill>
          <p:spPr>
            <a:xfrm>
              <a:off x="0" y="6026040"/>
              <a:ext cx="2918160" cy="83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18" name="object 8" descr=""/>
            <p:cNvPicPr/>
            <p:nvPr/>
          </p:nvPicPr>
          <p:blipFill>
            <a:blip r:embed="rId8"/>
            <a:stretch/>
          </p:blipFill>
          <p:spPr>
            <a:xfrm>
              <a:off x="0" y="6073200"/>
              <a:ext cx="2852640" cy="77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9" name="object 9"/>
            <p:cNvSpPr/>
            <p:nvPr/>
          </p:nvSpPr>
          <p:spPr>
            <a:xfrm>
              <a:off x="0" y="6073200"/>
              <a:ext cx="2852640" cy="772560"/>
            </a:xfrm>
            <a:custGeom>
              <a:avLst/>
              <a:gdLst>
                <a:gd name="textAreaLeft" fmla="*/ 0 w 2852640"/>
                <a:gd name="textAreaRight" fmla="*/ 2853000 w 2852640"/>
                <a:gd name="textAreaTop" fmla="*/ 0 h 772560"/>
                <a:gd name="textAreaBottom" fmla="*/ 772920 h 772560"/>
              </a:gdLst>
              <a:ahLst/>
              <a:rect l="textAreaLeft" t="textAreaTop" r="textAreaRight" b="textAreaBottom"/>
              <a:pathLst>
                <a:path w="2853055" h="772795">
                  <a:moveTo>
                    <a:pt x="0" y="772668"/>
                  </a:moveTo>
                  <a:lnTo>
                    <a:pt x="2852928" y="772668"/>
                  </a:lnTo>
                  <a:lnTo>
                    <a:pt x="2852928" y="0"/>
                  </a:lnTo>
                  <a:lnTo>
                    <a:pt x="0" y="0"/>
                  </a:lnTo>
                </a:path>
              </a:pathLst>
            </a:custGeom>
            <a:noFill/>
            <a:ln w="9144">
              <a:solidFill>
                <a:srgbClr val="97b85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20" name="PlaceHolder 2"/>
          <p:cNvSpPr>
            <a:spLocks noGrp="1"/>
          </p:cNvSpPr>
          <p:nvPr>
            <p:ph type="sldNum" idx="21"/>
          </p:nvPr>
        </p:nvSpPr>
        <p:spPr>
          <a:xfrm>
            <a:off x="7386120" y="6328440"/>
            <a:ext cx="755280" cy="3985200"/>
          </a:xfrm>
          <a:prstGeom prst="rect">
            <a:avLst/>
          </a:prstGeom>
          <a:noFill/>
          <a:ln w="0">
            <a:noFill/>
          </a:ln>
        </p:spPr>
        <p:txBody>
          <a:bodyPr lIns="0" rIns="0" tIns="7560" bIns="0" anchor="t">
            <a:noAutofit/>
          </a:bodyPr>
          <a:lstStyle>
            <a:lvl1pPr marL="12600" indent="0">
              <a:lnSpc>
                <a:spcPct val="100000"/>
              </a:lnSpc>
              <a:spcBef>
                <a:spcPts val="60"/>
              </a:spcBef>
              <a:buNone/>
              <a:defRPr b="0" lang="en-US" sz="1800" spc="-1" strike="noStrike">
                <a:solidFill>
                  <a:schemeClr val="lt1"/>
                </a:solidFill>
                <a:latin typeface="Times New Roman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60"/>
              </a:spcBef>
              <a:buNone/>
            </a:pPr>
            <a:r>
              <a:rPr b="0" lang="en-US" sz="1800" spc="-1" strike="noStrike">
                <a:solidFill>
                  <a:schemeClr val="lt1"/>
                </a:solidFill>
                <a:latin typeface="Times New Roman"/>
              </a:rPr>
              <a:t>Page</a:t>
            </a:r>
            <a:r>
              <a:rPr b="0" lang="en-US" sz="1800" spc="-35" strike="noStrike">
                <a:solidFill>
                  <a:schemeClr val="lt1"/>
                </a:solidFill>
                <a:latin typeface="Times New Roman"/>
              </a:rPr>
              <a:t> </a:t>
            </a:r>
            <a:r>
              <a:rPr b="0" lang="en-US" sz="1800" spc="-52" strike="noStrike">
                <a:solidFill>
                  <a:schemeClr val="lt1"/>
                </a:solidFill>
                <a:latin typeface="Times New Roman"/>
              </a:rPr>
              <a:t>7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685080" y="6172200"/>
            <a:ext cx="1829520" cy="54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MedMesh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object 10"/>
          <p:cNvGrpSpPr/>
          <p:nvPr/>
        </p:nvGrpSpPr>
        <p:grpSpPr>
          <a:xfrm>
            <a:off x="0" y="0"/>
            <a:ext cx="9143640" cy="843120"/>
            <a:chOff x="0" y="0"/>
            <a:chExt cx="9143640" cy="843120"/>
          </a:xfrm>
        </p:grpSpPr>
        <p:pic>
          <p:nvPicPr>
            <p:cNvPr id="223" name="object 11" descr=""/>
            <p:cNvPicPr/>
            <p:nvPr/>
          </p:nvPicPr>
          <p:blipFill>
            <a:blip r:embed="rId1"/>
            <a:stretch/>
          </p:blipFill>
          <p:spPr>
            <a:xfrm>
              <a:off x="0" y="771120"/>
              <a:ext cx="9143640" cy="72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24" name="object 12" descr="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9143640" cy="770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25" name="object 13"/>
            <p:cNvSpPr/>
            <p:nvPr/>
          </p:nvSpPr>
          <p:spPr>
            <a:xfrm>
              <a:off x="0" y="0"/>
              <a:ext cx="9143640" cy="771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771120"/>
                <a:gd name="textAreaBottom" fmla="*/ 771480 h 771120"/>
              </a:gdLst>
              <a:ahLst/>
              <a:rect l="textAreaLeft" t="textAreaTop" r="textAreaRight" b="textAreaBottom"/>
              <a:pathLst>
                <a:path w="9144000" h="771525">
                  <a:moveTo>
                    <a:pt x="0" y="771144"/>
                  </a:moveTo>
                  <a:lnTo>
                    <a:pt x="9144000" y="771144"/>
                  </a:lnTo>
                  <a:lnTo>
                    <a:pt x="9144000" y="0"/>
                  </a:lnTo>
                  <a:lnTo>
                    <a:pt x="0" y="0"/>
                  </a:lnTo>
                </a:path>
              </a:pathLst>
            </a:custGeom>
            <a:noFill/>
            <a:ln w="9143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219600" y="126000"/>
            <a:ext cx="8704440" cy="11584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371844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en-US" sz="3200" spc="-12" strike="noStrike">
                <a:solidFill>
                  <a:schemeClr val="lt1"/>
                </a:solidFill>
                <a:latin typeface="Times New Roman"/>
              </a:rPr>
              <a:t>Trends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206640" y="1130760"/>
            <a:ext cx="3927240" cy="4245840"/>
          </a:xfrm>
          <a:prstGeom prst="rect">
            <a:avLst/>
          </a:prstGeom>
          <a:noFill/>
          <a:ln w="0">
            <a:noFill/>
          </a:ln>
        </p:spPr>
        <p:txBody>
          <a:bodyPr lIns="0" rIns="0" tIns="2095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650"/>
              </a:spcBef>
              <a:buNone/>
            </a:pPr>
            <a:r>
              <a:rPr b="1" lang="en-US" sz="2400" spc="-12" strike="noStrike">
                <a:solidFill>
                  <a:schemeClr val="dk1"/>
                </a:solidFill>
                <a:latin typeface="Times New Roman"/>
              </a:rPr>
              <a:t>Application: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12600" indent="-9360">
              <a:lnSpc>
                <a:spcPct val="150000"/>
              </a:lnSpc>
              <a:spcBef>
                <a:spcPts val="99"/>
              </a:spcBef>
              <a:buClr>
                <a:srgbClr val="000000"/>
              </a:buClr>
              <a:buSzPct val="95000"/>
              <a:buFont typeface="Symbol" charset="2"/>
              <a:buChar char=""/>
              <a:tabLst>
                <a:tab algn="l" pos="10044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Ambulance</a:t>
            </a:r>
            <a:r>
              <a:rPr b="0" lang="en-US" sz="2000" spc="-46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and</a:t>
            </a:r>
            <a:r>
              <a:rPr b="0" lang="en-US" sz="2000" spc="-15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emergency</a:t>
            </a:r>
            <a:r>
              <a:rPr b="0" lang="en-US" sz="2000" spc="-26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chemeClr val="dk1"/>
                </a:solidFill>
                <a:latin typeface="Times New Roman"/>
              </a:rPr>
              <a:t>dispatch services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100440" indent="-9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95000"/>
              <a:buFont typeface="Symbol" charset="2"/>
              <a:buChar char=""/>
              <a:tabLst>
                <a:tab algn="l" pos="10044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Government</a:t>
            </a:r>
            <a:r>
              <a:rPr b="0" lang="en-US" sz="2000" spc="-60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health</a:t>
            </a:r>
            <a:r>
              <a:rPr b="0" lang="en-US" sz="2000" spc="-35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departments</a:t>
            </a:r>
            <a:r>
              <a:rPr b="0" lang="en-US" sz="2000" spc="-55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26" strike="noStrike">
                <a:solidFill>
                  <a:schemeClr val="dk1"/>
                </a:solidFill>
                <a:latin typeface="Times New Roman"/>
              </a:rPr>
              <a:t>and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12600"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10044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disaster</a:t>
            </a:r>
            <a:r>
              <a:rPr b="0" lang="en-US" sz="2000" spc="-46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response</a:t>
            </a:r>
            <a:r>
              <a:rPr b="0" lang="en-US" sz="2000" spc="-41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chemeClr val="dk1"/>
                </a:solidFill>
                <a:latin typeface="Times New Roman"/>
              </a:rPr>
              <a:t>agencies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12600" indent="-9360">
              <a:lnSpc>
                <a:spcPct val="150000"/>
              </a:lnSpc>
              <a:buClr>
                <a:srgbClr val="000000"/>
              </a:buClr>
              <a:buSzPct val="95000"/>
              <a:buFont typeface="Symbol" charset="2"/>
              <a:buChar char=""/>
              <a:tabLst>
                <a:tab algn="l" pos="10044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Hospital</a:t>
            </a:r>
            <a:r>
              <a:rPr b="0" lang="en-US" sz="2000" spc="-46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networks</a:t>
            </a:r>
            <a:r>
              <a:rPr b="0" lang="en-US" sz="2000" spc="-52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coordinating</a:t>
            </a:r>
            <a:r>
              <a:rPr b="0" lang="en-US" sz="2000" spc="-46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chemeClr val="dk1"/>
                </a:solidFill>
                <a:latin typeface="Times New Roman"/>
              </a:rPr>
              <a:t>inter-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facility</a:t>
            </a:r>
            <a:r>
              <a:rPr b="0" lang="en-US" sz="2000" spc="-41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patient</a:t>
            </a:r>
            <a:r>
              <a:rPr b="0" lang="en-US" sz="2000" spc="-32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chemeClr val="dk1"/>
                </a:solidFill>
                <a:latin typeface="Times New Roman"/>
              </a:rPr>
              <a:t>transfers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100440" indent="-9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95000"/>
              <a:buFont typeface="Symbol" charset="2"/>
              <a:buChar char=""/>
              <a:tabLst>
                <a:tab algn="l" pos="10044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Citizens</a:t>
            </a:r>
            <a:r>
              <a:rPr b="0" lang="en-US" sz="2000" spc="-32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searching</a:t>
            </a:r>
            <a:r>
              <a:rPr b="0" lang="en-US" sz="2000" spc="-35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for</a:t>
            </a:r>
            <a:r>
              <a:rPr b="0" lang="en-US" sz="2000" spc="-41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chemeClr val="dk1"/>
                </a:solidFill>
                <a:latin typeface="Times New Roman"/>
              </a:rPr>
              <a:t>nearby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12600"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10044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available</a:t>
            </a:r>
            <a:r>
              <a:rPr b="0" lang="en-US" sz="2000" spc="-26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care</a:t>
            </a:r>
            <a:r>
              <a:rPr b="0" lang="en-US" sz="2000" spc="-26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Times New Roman"/>
              </a:rPr>
              <a:t>during</a:t>
            </a:r>
            <a:r>
              <a:rPr b="0" lang="en-US" sz="2000" spc="-35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chemeClr val="dk1"/>
                </a:solidFill>
                <a:latin typeface="Times New Roman"/>
              </a:rPr>
              <a:t>emergencies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8" name="object 16"/>
          <p:cNvSpPr/>
          <p:nvPr/>
        </p:nvSpPr>
        <p:spPr>
          <a:xfrm>
            <a:off x="4303440" y="1130760"/>
            <a:ext cx="4817520" cy="48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09520" bIns="0" anchor="t">
            <a:spAutoFit/>
          </a:bodyPr>
          <a:p>
            <a:pPr marL="12600">
              <a:lnSpc>
                <a:spcPct val="100000"/>
              </a:lnSpc>
              <a:spcBef>
                <a:spcPts val="1650"/>
              </a:spcBef>
            </a:pPr>
            <a:r>
              <a:rPr b="1" lang="en-US" sz="2400" spc="-12" strike="noStrike">
                <a:solidFill>
                  <a:srgbClr val="000000"/>
                </a:solidFill>
                <a:latin typeface="Times New Roman"/>
              </a:rPr>
              <a:t>Challenges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12600" indent="-9360">
              <a:lnSpc>
                <a:spcPct val="150000"/>
              </a:lnSpc>
              <a:spcBef>
                <a:spcPts val="99"/>
              </a:spcBef>
              <a:buClr>
                <a:srgbClr val="000000"/>
              </a:buClr>
              <a:buSzPct val="95000"/>
              <a:buFont typeface="Symbol" charset="2"/>
              <a:buChar char=""/>
              <a:tabLst>
                <a:tab algn="l" pos="10044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Regulatory</a:t>
            </a:r>
            <a:r>
              <a:rPr b="0" lang="en-US" sz="2000" spc="-3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and privacy</a:t>
            </a:r>
            <a:r>
              <a:rPr b="0" lang="en-US" sz="2000" spc="-4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weight</a:t>
            </a:r>
            <a:r>
              <a:rPr b="0" lang="en-US" sz="20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health-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related</a:t>
            </a:r>
            <a:r>
              <a:rPr b="0" lang="en-US" sz="20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occupancy</a:t>
            </a:r>
            <a:r>
              <a:rPr b="0" lang="en-US" sz="2000" spc="-4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Times New Roman"/>
              </a:rPr>
              <a:t>data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00440" indent="-9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95000"/>
              <a:buFont typeface="Symbol" charset="2"/>
              <a:buChar char=""/>
              <a:tabLst>
                <a:tab algn="l" pos="10044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Simulated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hospital</a:t>
            </a:r>
            <a:r>
              <a:rPr b="0" lang="en-US" sz="2000" spc="-5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data</a:t>
            </a:r>
            <a:r>
              <a:rPr b="0" lang="en-US" sz="20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for</a:t>
            </a:r>
            <a:r>
              <a:rPr b="0" lang="en-US" sz="20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the</a:t>
            </a:r>
            <a:r>
              <a:rPr b="0" lang="en-US" sz="20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MVP</a:t>
            </a:r>
            <a:r>
              <a:rPr b="0" lang="en-US" sz="20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demo </a:t>
            </a:r>
            <a:r>
              <a:rPr b="0" lang="en-US" sz="2000" spc="-26" strike="noStrike">
                <a:solidFill>
                  <a:srgbClr val="000000"/>
                </a:solidFill>
                <a:latin typeface="Times New Roman"/>
              </a:rPr>
              <a:t>vs.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99"/>
              </a:spcBef>
              <a:tabLst>
                <a:tab algn="l" pos="10044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real</a:t>
            </a:r>
            <a:r>
              <a:rPr b="0" lang="en-US" sz="20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integration</a:t>
            </a:r>
            <a:r>
              <a:rPr b="0" lang="en-US" sz="2000" spc="-5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at</a:t>
            </a:r>
            <a:r>
              <a:rPr b="0" lang="en-US" sz="20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pilot</a:t>
            </a:r>
            <a:r>
              <a:rPr b="0" lang="en-US" sz="2000" spc="-4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Times New Roman"/>
              </a:rPr>
              <a:t>stage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2600" indent="-9360">
              <a:lnSpc>
                <a:spcPct val="150000"/>
              </a:lnSpc>
              <a:buClr>
                <a:srgbClr val="000000"/>
              </a:buClr>
              <a:buSzPct val="95000"/>
              <a:buFont typeface="Symbol" charset="2"/>
              <a:buChar char=""/>
              <a:tabLst>
                <a:tab algn="l" pos="10044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Getting</a:t>
            </a:r>
            <a:r>
              <a:rPr b="0" lang="en-US" sz="20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hospitals</a:t>
            </a:r>
            <a:r>
              <a:rPr b="0" lang="en-US" sz="2000" spc="-4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report</a:t>
            </a:r>
            <a:r>
              <a:rPr b="0" lang="en-US" sz="2000" spc="-4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accurate</a:t>
            </a:r>
            <a:r>
              <a:rPr b="0" lang="en-US" sz="20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Times New Roman"/>
              </a:rPr>
              <a:t>data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despite</a:t>
            </a:r>
            <a:r>
              <a:rPr b="0" lang="en-US" sz="2000" spc="-4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competing</a:t>
            </a:r>
            <a:r>
              <a:rPr b="0" lang="en-US" sz="20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incentives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00440" indent="-9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95000"/>
              <a:buFont typeface="Symbol" charset="2"/>
              <a:buChar char=""/>
              <a:tabLst>
                <a:tab algn="l" pos="10044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Scaling</a:t>
            </a:r>
            <a:r>
              <a:rPr b="0" lang="en-US" sz="2000" spc="-5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integrations</a:t>
            </a:r>
            <a:r>
              <a:rPr b="0" lang="en-US" sz="2000" spc="-4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as</a:t>
            </a:r>
            <a:r>
              <a:rPr b="0" lang="en-US" sz="2000" spc="-3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more</a:t>
            </a:r>
            <a:r>
              <a:rPr b="0" lang="en-US" sz="20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hospital</a:t>
            </a:r>
            <a:r>
              <a:rPr b="0" lang="en-US" sz="2000" spc="-5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systems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99"/>
              </a:spcBef>
              <a:tabLst>
                <a:tab algn="l" pos="10044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and</a:t>
            </a:r>
            <a:r>
              <a:rPr b="0" lang="en-US" sz="20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data</a:t>
            </a:r>
            <a:r>
              <a:rPr b="0" lang="en-US" sz="20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formats</a:t>
            </a:r>
            <a:r>
              <a:rPr b="0" lang="en-US" sz="20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are</a:t>
            </a:r>
            <a:r>
              <a:rPr b="0" lang="en-US" sz="20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Times New Roman"/>
              </a:rPr>
              <a:t>added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9" name="object 2"/>
          <p:cNvGrpSpPr/>
          <p:nvPr/>
        </p:nvGrpSpPr>
        <p:grpSpPr>
          <a:xfrm>
            <a:off x="0" y="6026040"/>
            <a:ext cx="9143640" cy="831600"/>
            <a:chOff x="0" y="6026040"/>
            <a:chExt cx="9143640" cy="831600"/>
          </a:xfrm>
        </p:grpSpPr>
        <p:pic>
          <p:nvPicPr>
            <p:cNvPr id="230" name="object 3" descr=""/>
            <p:cNvPicPr/>
            <p:nvPr/>
          </p:nvPicPr>
          <p:blipFill>
            <a:blip r:embed="rId3"/>
            <a:stretch/>
          </p:blipFill>
          <p:spPr>
            <a:xfrm>
              <a:off x="2910240" y="6120720"/>
              <a:ext cx="3332520" cy="638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1" name="object 4" descr=""/>
            <p:cNvPicPr/>
            <p:nvPr/>
          </p:nvPicPr>
          <p:blipFill>
            <a:blip r:embed="rId4"/>
            <a:stretch/>
          </p:blipFill>
          <p:spPr>
            <a:xfrm>
              <a:off x="6198120" y="6026040"/>
              <a:ext cx="2945520" cy="83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2" name="object 5" descr=""/>
            <p:cNvPicPr/>
            <p:nvPr/>
          </p:nvPicPr>
          <p:blipFill>
            <a:blip r:embed="rId5"/>
            <a:stretch/>
          </p:blipFill>
          <p:spPr>
            <a:xfrm>
              <a:off x="6268320" y="6073200"/>
              <a:ext cx="2875320" cy="77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33" name="object 6"/>
            <p:cNvSpPr/>
            <p:nvPr/>
          </p:nvSpPr>
          <p:spPr>
            <a:xfrm>
              <a:off x="0" y="6073200"/>
              <a:ext cx="9143640" cy="7725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772560"/>
                <a:gd name="textAreaBottom" fmla="*/ 772920 h 772560"/>
              </a:gdLst>
              <a:ahLst/>
              <a:rect l="textAreaLeft" t="textAreaTop" r="textAreaRight" b="textAreaBottom"/>
              <a:pathLst>
                <a:path w="9144000" h="772795">
                  <a:moveTo>
                    <a:pt x="6268212" y="772668"/>
                  </a:moveTo>
                  <a:lnTo>
                    <a:pt x="9144000" y="772668"/>
                  </a:lnTo>
                  <a:lnTo>
                    <a:pt x="9144000" y="0"/>
                  </a:lnTo>
                  <a:lnTo>
                    <a:pt x="6268212" y="0"/>
                  </a:lnTo>
                  <a:lnTo>
                    <a:pt x="6268212" y="772668"/>
                  </a:lnTo>
                  <a:close/>
                </a:path>
                <a:path w="9144000" h="77279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144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34" name="object 7" descr=""/>
            <p:cNvPicPr/>
            <p:nvPr/>
          </p:nvPicPr>
          <p:blipFill>
            <a:blip r:embed="rId6"/>
            <a:stretch/>
          </p:blipFill>
          <p:spPr>
            <a:xfrm>
              <a:off x="0" y="6026040"/>
              <a:ext cx="2918160" cy="83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5" name="object 8" descr=""/>
            <p:cNvPicPr/>
            <p:nvPr/>
          </p:nvPicPr>
          <p:blipFill>
            <a:blip r:embed="rId7"/>
            <a:stretch/>
          </p:blipFill>
          <p:spPr>
            <a:xfrm>
              <a:off x="0" y="6073200"/>
              <a:ext cx="2852640" cy="77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36" name="object 9"/>
            <p:cNvSpPr/>
            <p:nvPr/>
          </p:nvSpPr>
          <p:spPr>
            <a:xfrm>
              <a:off x="0" y="6073200"/>
              <a:ext cx="2852640" cy="772560"/>
            </a:xfrm>
            <a:custGeom>
              <a:avLst/>
              <a:gdLst>
                <a:gd name="textAreaLeft" fmla="*/ 0 w 2852640"/>
                <a:gd name="textAreaRight" fmla="*/ 2853000 w 2852640"/>
                <a:gd name="textAreaTop" fmla="*/ 0 h 772560"/>
                <a:gd name="textAreaBottom" fmla="*/ 772920 h 772560"/>
              </a:gdLst>
              <a:ahLst/>
              <a:rect l="textAreaLeft" t="textAreaTop" r="textAreaRight" b="textAreaBottom"/>
              <a:pathLst>
                <a:path w="2853055" h="772795">
                  <a:moveTo>
                    <a:pt x="0" y="772668"/>
                  </a:moveTo>
                  <a:lnTo>
                    <a:pt x="2852928" y="772668"/>
                  </a:lnTo>
                  <a:lnTo>
                    <a:pt x="2852928" y="0"/>
                  </a:lnTo>
                  <a:lnTo>
                    <a:pt x="0" y="0"/>
                  </a:lnTo>
                </a:path>
              </a:pathLst>
            </a:custGeom>
            <a:noFill/>
            <a:ln w="9144">
              <a:solidFill>
                <a:srgbClr val="97b85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37" name="PlaceHolder 3"/>
          <p:cNvSpPr>
            <a:spLocks noGrp="1"/>
          </p:cNvSpPr>
          <p:nvPr>
            <p:ph type="sldNum" idx="22"/>
          </p:nvPr>
        </p:nvSpPr>
        <p:spPr>
          <a:xfrm>
            <a:off x="7386120" y="6328440"/>
            <a:ext cx="755280" cy="3985200"/>
          </a:xfrm>
          <a:prstGeom prst="rect">
            <a:avLst/>
          </a:prstGeom>
          <a:noFill/>
          <a:ln w="0">
            <a:noFill/>
          </a:ln>
        </p:spPr>
        <p:txBody>
          <a:bodyPr lIns="0" rIns="0" tIns="7560" bIns="0" anchor="t">
            <a:noAutofit/>
          </a:bodyPr>
          <a:lstStyle>
            <a:lvl1pPr marL="12600" indent="0">
              <a:lnSpc>
                <a:spcPct val="100000"/>
              </a:lnSpc>
              <a:spcBef>
                <a:spcPts val="60"/>
              </a:spcBef>
              <a:buNone/>
              <a:defRPr b="0" lang="en-US" sz="1800" spc="-1" strike="noStrike">
                <a:solidFill>
                  <a:schemeClr val="lt1"/>
                </a:solidFill>
                <a:latin typeface="Times New Roman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60"/>
              </a:spcBef>
              <a:buNone/>
            </a:pPr>
            <a:r>
              <a:rPr b="0" lang="en-US" sz="1800" spc="-1" strike="noStrike">
                <a:solidFill>
                  <a:schemeClr val="lt1"/>
                </a:solidFill>
                <a:latin typeface="Times New Roman"/>
              </a:rPr>
              <a:t>Page</a:t>
            </a:r>
            <a:r>
              <a:rPr b="0" lang="en-US" sz="1800" spc="-35" strike="noStrike">
                <a:solidFill>
                  <a:schemeClr val="lt1"/>
                </a:solidFill>
                <a:latin typeface="Times New Roman"/>
              </a:rPr>
              <a:t> </a:t>
            </a:r>
            <a:r>
              <a:rPr b="0" lang="en-US" sz="1800" spc="-52" strike="noStrike">
                <a:solidFill>
                  <a:schemeClr val="lt1"/>
                </a:solidFill>
                <a:latin typeface="Times New Roman"/>
              </a:rPr>
              <a:t>8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685080" y="6172200"/>
            <a:ext cx="1829520" cy="54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MedMesh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object 9"/>
          <p:cNvGrpSpPr/>
          <p:nvPr/>
        </p:nvGrpSpPr>
        <p:grpSpPr>
          <a:xfrm>
            <a:off x="0" y="0"/>
            <a:ext cx="9143640" cy="843120"/>
            <a:chOff x="0" y="0"/>
            <a:chExt cx="9143640" cy="843120"/>
          </a:xfrm>
        </p:grpSpPr>
        <p:pic>
          <p:nvPicPr>
            <p:cNvPr id="240" name="object 10" descr=""/>
            <p:cNvPicPr/>
            <p:nvPr/>
          </p:nvPicPr>
          <p:blipFill>
            <a:blip r:embed="rId1"/>
            <a:stretch/>
          </p:blipFill>
          <p:spPr>
            <a:xfrm>
              <a:off x="0" y="771120"/>
              <a:ext cx="9143640" cy="72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41" name="object 11" descr="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9143640" cy="770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42" name="object 12"/>
            <p:cNvSpPr/>
            <p:nvPr/>
          </p:nvSpPr>
          <p:spPr>
            <a:xfrm>
              <a:off x="0" y="0"/>
              <a:ext cx="9143640" cy="7711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771120"/>
                <a:gd name="textAreaBottom" fmla="*/ 771480 h 771120"/>
              </a:gdLst>
              <a:ahLst/>
              <a:rect l="textAreaLeft" t="textAreaTop" r="textAreaRight" b="textAreaBottom"/>
              <a:pathLst>
                <a:path w="9144000" h="771525">
                  <a:moveTo>
                    <a:pt x="0" y="771144"/>
                  </a:moveTo>
                  <a:lnTo>
                    <a:pt x="9144000" y="771144"/>
                  </a:lnTo>
                  <a:lnTo>
                    <a:pt x="9144000" y="0"/>
                  </a:lnTo>
                  <a:lnTo>
                    <a:pt x="0" y="0"/>
                  </a:lnTo>
                </a:path>
              </a:pathLst>
            </a:custGeom>
            <a:noFill/>
            <a:ln w="9143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219600" y="126000"/>
            <a:ext cx="870444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262836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3200" spc="-1" strike="noStrike">
                <a:solidFill>
                  <a:schemeClr val="lt1"/>
                </a:solidFill>
                <a:latin typeface="Times New Roman"/>
              </a:rPr>
              <a:t>FUTURE</a:t>
            </a:r>
            <a:r>
              <a:rPr b="1" lang="en-US" sz="3200" spc="4" strike="noStrike">
                <a:solidFill>
                  <a:schemeClr val="lt1"/>
                </a:solidFill>
                <a:latin typeface="Times New Roman"/>
              </a:rPr>
              <a:t> </a:t>
            </a:r>
            <a:r>
              <a:rPr b="1" lang="en-US" sz="3200" spc="-12" strike="noStrike">
                <a:solidFill>
                  <a:schemeClr val="lt1"/>
                </a:solidFill>
                <a:latin typeface="Times New Roman"/>
              </a:rPr>
              <a:t>TRENDS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4" name="object 14"/>
          <p:cNvSpPr/>
          <p:nvPr/>
        </p:nvSpPr>
        <p:spPr>
          <a:xfrm>
            <a:off x="609120" y="1702800"/>
            <a:ext cx="7887600" cy="30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91440" indent="-889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SzPct val="94000"/>
              <a:buFont typeface="Symbol" charset="2"/>
              <a:buChar char=""/>
              <a:tabLst>
                <a:tab algn="l" pos="914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Real</a:t>
            </a:r>
            <a:r>
              <a:rPr b="0" lang="en-US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hospital</a:t>
            </a:r>
            <a:r>
              <a:rPr b="0" lang="en-US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data</a:t>
            </a:r>
            <a:r>
              <a:rPr b="0" lang="en-US" sz="18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integration</a:t>
            </a:r>
            <a:r>
              <a:rPr b="0" lang="en-US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once</a:t>
            </a:r>
            <a:r>
              <a:rPr b="0" lang="en-US" sz="18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in</a:t>
            </a:r>
            <a:r>
              <a:rPr b="0" lang="en-US" sz="1800" spc="-5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pilot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deployment</a:t>
            </a:r>
            <a:r>
              <a:rPr b="0" lang="en-US" sz="1800" spc="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with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metro</a:t>
            </a:r>
            <a:r>
              <a:rPr b="0" lang="en-US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health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tabLst>
                <a:tab algn="l" pos="91440"/>
              </a:tabLst>
            </a:pP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85"/>
              </a:spcBef>
              <a:tabLst>
                <a:tab algn="l" pos="914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600" indent="-10080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SzPct val="94000"/>
              <a:buFont typeface="Symbol" charset="2"/>
              <a:buChar char=""/>
              <a:tabLst>
                <a:tab algn="l" pos="91440"/>
              </a:tabLst>
            </a:pP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Built-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in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access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controls</a:t>
            </a:r>
            <a:r>
              <a:rPr b="0" lang="en-US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data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residency</a:t>
            </a:r>
            <a:r>
              <a:rPr b="0" lang="en-US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to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meet</a:t>
            </a:r>
            <a:r>
              <a:rPr b="0" lang="en-US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healthcare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privacy regulations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1"/>
              </a:spcBef>
              <a:tabLst>
                <a:tab algn="l" pos="914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91440" indent="-88920">
              <a:lnSpc>
                <a:spcPct val="100000"/>
              </a:lnSpc>
              <a:buClr>
                <a:srgbClr val="000000"/>
              </a:buClr>
              <a:buSzPct val="94000"/>
              <a:buFont typeface="Arial"/>
              <a:buChar char="•"/>
              <a:tabLst>
                <a:tab algn="l" pos="914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Predictive</a:t>
            </a:r>
            <a:r>
              <a:rPr b="0" lang="en-US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surge</a:t>
            </a:r>
            <a:r>
              <a:rPr b="0" lang="en-US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forecasting</a:t>
            </a:r>
            <a:r>
              <a:rPr b="0" lang="en-US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using</a:t>
            </a:r>
            <a:r>
              <a:rPr b="0" lang="en-US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historical</a:t>
            </a:r>
            <a:r>
              <a:rPr b="0" lang="en-US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admission</a:t>
            </a:r>
            <a:r>
              <a:rPr b="0" lang="en-US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and</a:t>
            </a:r>
            <a:r>
              <a:rPr b="0" lang="en-US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occupancy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trends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1"/>
              </a:spcBef>
              <a:tabLst>
                <a:tab algn="l" pos="914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600" indent="-10080">
              <a:lnSpc>
                <a:spcPct val="100000"/>
              </a:lnSpc>
              <a:buClr>
                <a:srgbClr val="000000"/>
              </a:buClr>
              <a:buSzPct val="94000"/>
              <a:buFont typeface="Arial"/>
              <a:buChar char="•"/>
              <a:tabLst>
                <a:tab algn="l" pos="914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Expansion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beyond</a:t>
            </a:r>
            <a:r>
              <a:rPr b="0" lang="en-US" sz="180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hospitals</a:t>
            </a:r>
            <a:r>
              <a:rPr b="0" lang="en-US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into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ambulance</a:t>
            </a:r>
            <a:r>
              <a:rPr b="0" lang="en-US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fleets,</a:t>
            </a:r>
            <a:r>
              <a:rPr b="0" lang="en-US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blood</a:t>
            </a:r>
            <a:r>
              <a:rPr b="0" lang="en-US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banks,</a:t>
            </a:r>
            <a:r>
              <a:rPr b="0" lang="en-US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26" strike="noStrike">
                <a:solidFill>
                  <a:srgbClr val="000000"/>
                </a:solidFill>
                <a:latin typeface="Arial"/>
              </a:rPr>
              <a:t>and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pharmacy</a:t>
            </a:r>
            <a:r>
              <a:rPr b="0" lang="en-US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21" strike="noStrike">
                <a:solidFill>
                  <a:srgbClr val="000000"/>
                </a:solidFill>
                <a:latin typeface="Arial"/>
              </a:rPr>
              <a:t>stock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5" name="object 2"/>
          <p:cNvGrpSpPr/>
          <p:nvPr/>
        </p:nvGrpSpPr>
        <p:grpSpPr>
          <a:xfrm>
            <a:off x="0" y="6026040"/>
            <a:ext cx="9143640" cy="831600"/>
            <a:chOff x="0" y="6026040"/>
            <a:chExt cx="9143640" cy="831600"/>
          </a:xfrm>
        </p:grpSpPr>
        <p:pic>
          <p:nvPicPr>
            <p:cNvPr id="246" name="object 3" descr=""/>
            <p:cNvPicPr/>
            <p:nvPr/>
          </p:nvPicPr>
          <p:blipFill>
            <a:blip r:embed="rId3"/>
            <a:stretch/>
          </p:blipFill>
          <p:spPr>
            <a:xfrm>
              <a:off x="6198120" y="6026040"/>
              <a:ext cx="2945520" cy="83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47" name="object 4" descr=""/>
            <p:cNvPicPr/>
            <p:nvPr/>
          </p:nvPicPr>
          <p:blipFill>
            <a:blip r:embed="rId4"/>
            <a:stretch/>
          </p:blipFill>
          <p:spPr>
            <a:xfrm>
              <a:off x="6268320" y="6073200"/>
              <a:ext cx="2875320" cy="77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48" name="object 5"/>
            <p:cNvSpPr/>
            <p:nvPr/>
          </p:nvSpPr>
          <p:spPr>
            <a:xfrm>
              <a:off x="0" y="6073200"/>
              <a:ext cx="9143640" cy="77256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772560"/>
                <a:gd name="textAreaBottom" fmla="*/ 772920 h 772560"/>
              </a:gdLst>
              <a:ahLst/>
              <a:rect l="textAreaLeft" t="textAreaTop" r="textAreaRight" b="textAreaBottom"/>
              <a:pathLst>
                <a:path w="9144000" h="772795">
                  <a:moveTo>
                    <a:pt x="6268212" y="772668"/>
                  </a:moveTo>
                  <a:lnTo>
                    <a:pt x="9144000" y="772668"/>
                  </a:lnTo>
                  <a:lnTo>
                    <a:pt x="9144000" y="0"/>
                  </a:lnTo>
                  <a:lnTo>
                    <a:pt x="6268212" y="0"/>
                  </a:lnTo>
                  <a:lnTo>
                    <a:pt x="6268212" y="772668"/>
                  </a:lnTo>
                  <a:close/>
                </a:path>
                <a:path w="9144000" h="77279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144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49" name="object 6" descr=""/>
            <p:cNvPicPr/>
            <p:nvPr/>
          </p:nvPicPr>
          <p:blipFill>
            <a:blip r:embed="rId5"/>
            <a:stretch/>
          </p:blipFill>
          <p:spPr>
            <a:xfrm>
              <a:off x="0" y="6026040"/>
              <a:ext cx="2918160" cy="83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0" name="object 7" descr=""/>
            <p:cNvPicPr/>
            <p:nvPr/>
          </p:nvPicPr>
          <p:blipFill>
            <a:blip r:embed="rId6"/>
            <a:stretch/>
          </p:blipFill>
          <p:spPr>
            <a:xfrm>
              <a:off x="0" y="6073200"/>
              <a:ext cx="2852640" cy="77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51" name="object 8"/>
            <p:cNvSpPr/>
            <p:nvPr/>
          </p:nvSpPr>
          <p:spPr>
            <a:xfrm>
              <a:off x="0" y="6073200"/>
              <a:ext cx="2852640" cy="772560"/>
            </a:xfrm>
            <a:custGeom>
              <a:avLst/>
              <a:gdLst>
                <a:gd name="textAreaLeft" fmla="*/ 0 w 2852640"/>
                <a:gd name="textAreaRight" fmla="*/ 2853000 w 2852640"/>
                <a:gd name="textAreaTop" fmla="*/ 0 h 772560"/>
                <a:gd name="textAreaBottom" fmla="*/ 772920 h 772560"/>
              </a:gdLst>
              <a:ahLst/>
              <a:rect l="textAreaLeft" t="textAreaTop" r="textAreaRight" b="textAreaBottom"/>
              <a:pathLst>
                <a:path w="2853055" h="772795">
                  <a:moveTo>
                    <a:pt x="0" y="772668"/>
                  </a:moveTo>
                  <a:lnTo>
                    <a:pt x="2852928" y="772668"/>
                  </a:lnTo>
                  <a:lnTo>
                    <a:pt x="2852928" y="0"/>
                  </a:lnTo>
                  <a:lnTo>
                    <a:pt x="0" y="0"/>
                  </a:lnTo>
                </a:path>
              </a:pathLst>
            </a:custGeom>
            <a:noFill/>
            <a:ln w="9144">
              <a:solidFill>
                <a:srgbClr val="97b85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52" name="PlaceHolder 2"/>
          <p:cNvSpPr>
            <a:spLocks noGrp="1"/>
          </p:cNvSpPr>
          <p:nvPr>
            <p:ph type="sldNum" idx="23"/>
          </p:nvPr>
        </p:nvSpPr>
        <p:spPr>
          <a:xfrm>
            <a:off x="7386120" y="6328440"/>
            <a:ext cx="755280" cy="3985200"/>
          </a:xfrm>
          <a:prstGeom prst="rect">
            <a:avLst/>
          </a:prstGeom>
          <a:noFill/>
          <a:ln w="0">
            <a:noFill/>
          </a:ln>
        </p:spPr>
        <p:txBody>
          <a:bodyPr lIns="0" rIns="0" tIns="7560" bIns="0" anchor="t">
            <a:noAutofit/>
          </a:bodyPr>
          <a:lstStyle>
            <a:lvl1pPr marL="12600" indent="0">
              <a:lnSpc>
                <a:spcPct val="100000"/>
              </a:lnSpc>
              <a:spcBef>
                <a:spcPts val="60"/>
              </a:spcBef>
              <a:buNone/>
              <a:defRPr b="0" lang="en-US" sz="1800" spc="-1" strike="noStrike">
                <a:solidFill>
                  <a:schemeClr val="lt1"/>
                </a:solidFill>
                <a:latin typeface="Times New Roman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60"/>
              </a:spcBef>
              <a:buNone/>
            </a:pPr>
            <a:r>
              <a:rPr b="0" lang="en-US" sz="1800" spc="-1" strike="noStrike">
                <a:solidFill>
                  <a:schemeClr val="lt1"/>
                </a:solidFill>
                <a:latin typeface="Times New Roman"/>
              </a:rPr>
              <a:t>Page</a:t>
            </a:r>
            <a:r>
              <a:rPr b="0" lang="en-US" sz="1800" spc="-35" strike="noStrike">
                <a:solidFill>
                  <a:schemeClr val="lt1"/>
                </a:solidFill>
                <a:latin typeface="Times New Roman"/>
              </a:rPr>
              <a:t> </a:t>
            </a:r>
            <a:r>
              <a:rPr b="0" lang="en-US" sz="1800" spc="-52" strike="noStrike">
                <a:solidFill>
                  <a:schemeClr val="lt1"/>
                </a:solidFill>
                <a:latin typeface="Times New Roman"/>
              </a:rPr>
              <a:t>9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685080" y="6172200"/>
            <a:ext cx="1829520" cy="54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MedMesh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2533680" y="1536120"/>
            <a:ext cx="4497480" cy="2937960"/>
          </a:xfrm>
          <a:prstGeom prst="rect">
            <a:avLst/>
          </a:prstGeom>
          <a:noFill/>
          <a:ln w="0">
            <a:noFill/>
          </a:ln>
        </p:spPr>
        <p:txBody>
          <a:bodyPr lIns="0" rIns="0" tIns="11520" bIns="0" anchor="t">
            <a:noAutofit/>
          </a:bodyPr>
          <a:p>
            <a:pPr marL="893520" indent="-881280">
              <a:lnSpc>
                <a:spcPct val="100000"/>
              </a:lnSpc>
              <a:spcBef>
                <a:spcPts val="91"/>
              </a:spcBef>
              <a:buNone/>
              <a:tabLst>
                <a:tab algn="l" pos="0"/>
              </a:tabLst>
            </a:pPr>
            <a:r>
              <a:rPr b="1" lang="en-US" sz="9600" spc="-12" strike="noStrike">
                <a:solidFill>
                  <a:srgbClr val="92d050"/>
                </a:solidFill>
                <a:latin typeface="Times New Roman"/>
              </a:rPr>
              <a:t>THANK </a:t>
            </a:r>
            <a:r>
              <a:rPr b="1" lang="en-US" sz="9600" spc="-26" strike="noStrike">
                <a:solidFill>
                  <a:srgbClr val="00afef"/>
                </a:solidFill>
                <a:latin typeface="Times New Roman"/>
              </a:rPr>
              <a:t>YOU</a:t>
            </a:r>
            <a:endParaRPr b="0" lang="en-US" sz="96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255" name="object 3"/>
          <p:cNvGrpSpPr/>
          <p:nvPr/>
        </p:nvGrpSpPr>
        <p:grpSpPr>
          <a:xfrm>
            <a:off x="0" y="6457320"/>
            <a:ext cx="9143640" cy="400320"/>
            <a:chOff x="0" y="6457320"/>
            <a:chExt cx="9143640" cy="400320"/>
          </a:xfrm>
        </p:grpSpPr>
        <p:pic>
          <p:nvPicPr>
            <p:cNvPr id="256" name="object 4" descr=""/>
            <p:cNvPicPr/>
            <p:nvPr/>
          </p:nvPicPr>
          <p:blipFill>
            <a:blip r:embed="rId1"/>
            <a:stretch/>
          </p:blipFill>
          <p:spPr>
            <a:xfrm>
              <a:off x="0" y="6475320"/>
              <a:ext cx="4626720" cy="382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7" name="object 5" descr=""/>
            <p:cNvPicPr/>
            <p:nvPr/>
          </p:nvPicPr>
          <p:blipFill>
            <a:blip r:embed="rId2"/>
            <a:stretch/>
          </p:blipFill>
          <p:spPr>
            <a:xfrm>
              <a:off x="0" y="6504480"/>
              <a:ext cx="4579200" cy="340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58" name="object 6"/>
            <p:cNvSpPr/>
            <p:nvPr/>
          </p:nvSpPr>
          <p:spPr>
            <a:xfrm>
              <a:off x="0" y="6504480"/>
              <a:ext cx="4579200" cy="341280"/>
            </a:xfrm>
            <a:custGeom>
              <a:avLst/>
              <a:gdLst>
                <a:gd name="textAreaLeft" fmla="*/ 0 w 4579200"/>
                <a:gd name="textAreaRight" fmla="*/ 4579560 w 4579200"/>
                <a:gd name="textAreaTop" fmla="*/ 0 h 341280"/>
                <a:gd name="textAreaBottom" fmla="*/ 341640 h 341280"/>
              </a:gdLst>
              <a:ahLst/>
              <a:rect l="textAreaLeft" t="textAreaTop" r="textAreaRight" b="textAreaBottom"/>
              <a:pathLst>
                <a:path w="4579620" h="341629">
                  <a:moveTo>
                    <a:pt x="0" y="341375"/>
                  </a:moveTo>
                  <a:lnTo>
                    <a:pt x="4579620" y="341375"/>
                  </a:lnTo>
                  <a:lnTo>
                    <a:pt x="4579620" y="0"/>
                  </a:lnTo>
                  <a:lnTo>
                    <a:pt x="0" y="0"/>
                  </a:lnTo>
                </a:path>
              </a:pathLst>
            </a:custGeom>
            <a:noFill/>
            <a:ln w="9144">
              <a:solidFill>
                <a:srgbClr val="97b85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59" name="object 7" descr=""/>
            <p:cNvPicPr/>
            <p:nvPr/>
          </p:nvPicPr>
          <p:blipFill>
            <a:blip r:embed="rId3"/>
            <a:stretch/>
          </p:blipFill>
          <p:spPr>
            <a:xfrm>
              <a:off x="4507920" y="6457320"/>
              <a:ext cx="4635720" cy="400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60" name="object 8" descr=""/>
            <p:cNvPicPr/>
            <p:nvPr/>
          </p:nvPicPr>
          <p:blipFill>
            <a:blip r:embed="rId4"/>
            <a:stretch/>
          </p:blipFill>
          <p:spPr>
            <a:xfrm>
              <a:off x="4578120" y="6504480"/>
              <a:ext cx="4559400" cy="340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61" name="object 9"/>
            <p:cNvSpPr/>
            <p:nvPr/>
          </p:nvSpPr>
          <p:spPr>
            <a:xfrm>
              <a:off x="4578120" y="6504480"/>
              <a:ext cx="4559400" cy="341280"/>
            </a:xfrm>
            <a:custGeom>
              <a:avLst/>
              <a:gdLst>
                <a:gd name="textAreaLeft" fmla="*/ 0 w 4559400"/>
                <a:gd name="textAreaRight" fmla="*/ 4559760 w 4559400"/>
                <a:gd name="textAreaTop" fmla="*/ 0 h 341280"/>
                <a:gd name="textAreaBottom" fmla="*/ 341640 h 341280"/>
              </a:gdLst>
              <a:ahLst/>
              <a:rect l="textAreaLeft" t="textAreaTop" r="textAreaRight" b="textAreaBottom"/>
              <a:pathLst>
                <a:path w="4559934" h="341629">
                  <a:moveTo>
                    <a:pt x="0" y="341375"/>
                  </a:moveTo>
                  <a:lnTo>
                    <a:pt x="4559808" y="341375"/>
                  </a:lnTo>
                  <a:lnTo>
                    <a:pt x="4559808" y="0"/>
                  </a:lnTo>
                  <a:lnTo>
                    <a:pt x="0" y="0"/>
                  </a:lnTo>
                  <a:lnTo>
                    <a:pt x="0" y="341375"/>
                  </a:lnTo>
                  <a:close/>
                </a:path>
              </a:pathLst>
            </a:custGeom>
            <a:noFill/>
            <a:ln w="9144">
              <a:solidFill>
                <a:srgbClr val="497db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2026-10-13T06:07:24Z</dcterms:created>
  <dc:creator>19EC010 19EC010</dc:creator>
  <dc:description/>
  <dc:language>en-US</dc:language>
  <cp:lastModifiedBy/>
  <dcterms:modified xsi:type="dcterms:W3CDTF">2026-10-13T11:51:09Z</dcterms:modified>
  <cp:revision>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2026-08-14T00:00:00Z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2026-10-13T00:00:00Z</vt:filetime>
  </property>
  <property fmtid="{D5CDD505-2E9C-101B-9397-08002B2CF9AE}" pid="6" name="PresentationFormat">
    <vt:lpwstr>On-screen Show (4:3)</vt:lpwstr>
  </property>
  <property fmtid="{D5CDD505-2E9C-101B-9397-08002B2CF9AE}" pid="7" name="Producer">
    <vt:lpwstr>Microsoft® PowerPoint® 2019</vt:lpwstr>
  </property>
</Properties>
</file>